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5143500" cx="9144000"/>
  <p:notesSz cx="6858000" cy="9144000"/>
  <p:embeddedFontLst>
    <p:embeddedFont>
      <p:font typeface="Raleway"/>
      <p:regular r:id="rId40"/>
      <p:bold r:id="rId41"/>
      <p:italic r:id="rId42"/>
      <p:boldItalic r:id="rId43"/>
    </p:embeddedFont>
    <p:embeddedFont>
      <p:font typeface="Anaheim"/>
      <p:regular r:id="rId44"/>
      <p:bold r:id="rId45"/>
    </p:embeddedFont>
    <p:embeddedFont>
      <p:font typeface="Cairo"/>
      <p:regular r:id="rId46"/>
      <p:bold r:id="rId47"/>
    </p:embeddedFont>
    <p:embeddedFont>
      <p:font typeface="Space Grotesk Medium"/>
      <p:regular r:id="rId48"/>
      <p:bold r:id="rId49"/>
    </p:embeddedFont>
    <p:embeddedFont>
      <p:font typeface="PT Sans"/>
      <p:regular r:id="rId50"/>
      <p:bold r:id="rId51"/>
      <p:italic r:id="rId52"/>
      <p:boldItalic r:id="rId53"/>
    </p:embeddedFont>
    <p:embeddedFont>
      <p:font typeface="Space Grotesk"/>
      <p:regular r:id="rId54"/>
      <p:bold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42" Type="http://schemas.openxmlformats.org/officeDocument/2006/relationships/font" Target="fonts/Raleway-italic.fntdata"/><Relationship Id="rId41" Type="http://schemas.openxmlformats.org/officeDocument/2006/relationships/font" Target="fonts/Raleway-bold.fntdata"/><Relationship Id="rId44" Type="http://schemas.openxmlformats.org/officeDocument/2006/relationships/font" Target="fonts/Anaheim-regular.fntdata"/><Relationship Id="rId43" Type="http://schemas.openxmlformats.org/officeDocument/2006/relationships/font" Target="fonts/Raleway-boldItalic.fntdata"/><Relationship Id="rId46" Type="http://schemas.openxmlformats.org/officeDocument/2006/relationships/font" Target="fonts/Cairo-regular.fntdata"/><Relationship Id="rId45" Type="http://schemas.openxmlformats.org/officeDocument/2006/relationships/font" Target="fonts/Anahei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SpaceGroteskMedium-regular.fntdata"/><Relationship Id="rId47" Type="http://schemas.openxmlformats.org/officeDocument/2006/relationships/font" Target="fonts/Cairo-bold.fntdata"/><Relationship Id="rId49" Type="http://schemas.openxmlformats.org/officeDocument/2006/relationships/font" Target="fonts/SpaceGroteskMedium-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PTSans-bold.fntdata"/><Relationship Id="rId50" Type="http://schemas.openxmlformats.org/officeDocument/2006/relationships/font" Target="fonts/PTSans-regular.fntdata"/><Relationship Id="rId53" Type="http://schemas.openxmlformats.org/officeDocument/2006/relationships/font" Target="fonts/PTSans-boldItalic.fntdata"/><Relationship Id="rId52" Type="http://schemas.openxmlformats.org/officeDocument/2006/relationships/font" Target="fonts/PTSans-italic.fntdata"/><Relationship Id="rId11" Type="http://schemas.openxmlformats.org/officeDocument/2006/relationships/slide" Target="slides/slide7.xml"/><Relationship Id="rId55" Type="http://schemas.openxmlformats.org/officeDocument/2006/relationships/font" Target="fonts/SpaceGrotesk-bold.fntdata"/><Relationship Id="rId10" Type="http://schemas.openxmlformats.org/officeDocument/2006/relationships/slide" Target="slides/slide6.xml"/><Relationship Id="rId54" Type="http://schemas.openxmlformats.org/officeDocument/2006/relationships/font" Target="fonts/SpaceGrotesk-regular.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06a38cf5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d06a38cf5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06a38cf56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06a38cf56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06a38cf56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d06a38cf56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06a38cf56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06a38cf5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06a38cf56_0_1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06a38cf56_0_1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06a38cf5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d06a38cf5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06a38cf56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d06a38cf56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06a38cf56_0_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d06a38cf56_0_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06a38cf56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d06a38cf56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06a38cf56_0_1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d06a38cf56_0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06a38cf56_0_1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06a38cf56_0_1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06a38cf56_0_1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06a38cf56_0_1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d06a38cf56_0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d06a38cf56_0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06a38cf56_0_1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d06a38cf56_0_1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06a38cf56_0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d06a38cf56_0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06a38cf56_0_1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d06a38cf56_0_1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06a38cf56_0_1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d06a38cf56_0_1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06a38cf56_0_1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d06a38cf56_0_1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06a38cf56_0_1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d06a38cf56_0_1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06a38cf56_0_1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d06a38cf56_0_1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06a38cf56_0_1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d06a38cf56_0_1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7d5605c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7d5605c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d7d5605c7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d7d5605c7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d1d1b8f9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d1d1b8f9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d35194481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d35194481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7d5605c7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7d5605c7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d7d5605c7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d7d5605c7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d7d5605c7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d7d5605c7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d06a38cf56_0_1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d06a38cf56_0_1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d06a38cf56_0_1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d06a38cf56_0_1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d19fb048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d19fb048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1d1b8f97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d1d1b8f97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2205375"/>
            <a:ext cx="5257800" cy="16140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800">
                <a:solidFill>
                  <a:srgbClr val="241160"/>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885650"/>
            <a:ext cx="3690600" cy="468600"/>
          </a:xfrm>
          <a:prstGeom prst="rect">
            <a:avLst/>
          </a:prstGeom>
          <a:solidFill>
            <a:schemeClr val="dk2"/>
          </a:solidFill>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1" name="Google Shape;11;p2"/>
          <p:cNvPicPr preferRelativeResize="0"/>
          <p:nvPr/>
        </p:nvPicPr>
        <p:blipFill>
          <a:blip r:embed="rId2">
            <a:alphaModFix/>
          </a:blip>
          <a:stretch>
            <a:fillRect/>
          </a:stretch>
        </p:blipFill>
        <p:spPr>
          <a:xfrm flipH="1" rot="10800000">
            <a:off x="0" y="0"/>
            <a:ext cx="4727801" cy="22568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txBox="1"/>
          <p:nvPr>
            <p:ph type="title"/>
          </p:nvPr>
        </p:nvSpPr>
        <p:spPr>
          <a:xfrm>
            <a:off x="4047175" y="2388500"/>
            <a:ext cx="4383600" cy="1626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4047175" y="1438750"/>
            <a:ext cx="1230300" cy="8814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pic>
        <p:nvPicPr>
          <p:cNvPr id="15" name="Google Shape;15;p3"/>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grpSp>
        <p:nvGrpSpPr>
          <p:cNvPr id="17" name="Google Shape;17;p4"/>
          <p:cNvGrpSpPr/>
          <p:nvPr/>
        </p:nvGrpSpPr>
        <p:grpSpPr>
          <a:xfrm>
            <a:off x="0" y="0"/>
            <a:ext cx="9144001" cy="5143500"/>
            <a:chOff x="0" y="0"/>
            <a:chExt cx="9144001" cy="5143500"/>
          </a:xfrm>
        </p:grpSpPr>
        <p:pic>
          <p:nvPicPr>
            <p:cNvPr id="18" name="Google Shape;18;p4"/>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9" name="Google Shape;19;p4"/>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sp>
        <p:nvSpPr>
          <p:cNvPr id="20" name="Google Shape;20;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 name="Google Shape;21;p4"/>
          <p:cNvSpPr txBox="1"/>
          <p:nvPr>
            <p:ph idx="1" type="body"/>
          </p:nvPr>
        </p:nvSpPr>
        <p:spPr>
          <a:xfrm>
            <a:off x="720000" y="1090229"/>
            <a:ext cx="7704000" cy="3486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22" name="Google Shape;22;p4"/>
          <p:cNvGrpSpPr/>
          <p:nvPr/>
        </p:nvGrpSpPr>
        <p:grpSpPr>
          <a:xfrm rot="10800000">
            <a:off x="6704226" y="3811697"/>
            <a:ext cx="4574075" cy="3479350"/>
            <a:chOff x="1522650" y="1117750"/>
            <a:chExt cx="4574075" cy="3479350"/>
          </a:xfrm>
        </p:grpSpPr>
        <p:sp>
          <p:nvSpPr>
            <p:cNvPr id="23" name="Google Shape;23;p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 name="Google Shape;27;p5"/>
          <p:cNvSpPr txBox="1"/>
          <p:nvPr>
            <p:ph idx="1" type="subTitle"/>
          </p:nvPr>
        </p:nvSpPr>
        <p:spPr>
          <a:xfrm>
            <a:off x="4911639" y="2679824"/>
            <a:ext cx="2424300" cy="15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 name="Google Shape;28;p5"/>
          <p:cNvSpPr txBox="1"/>
          <p:nvPr>
            <p:ph idx="2" type="subTitle"/>
          </p:nvPr>
        </p:nvSpPr>
        <p:spPr>
          <a:xfrm>
            <a:off x="1808050" y="2679824"/>
            <a:ext cx="2424300" cy="15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 name="Google Shape;29;p5"/>
          <p:cNvSpPr txBox="1"/>
          <p:nvPr>
            <p:ph idx="3" type="subTitle"/>
          </p:nvPr>
        </p:nvSpPr>
        <p:spPr>
          <a:xfrm>
            <a:off x="1808050" y="2244217"/>
            <a:ext cx="2424300" cy="449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0" name="Google Shape;30;p5"/>
          <p:cNvSpPr txBox="1"/>
          <p:nvPr>
            <p:ph idx="4" type="subTitle"/>
          </p:nvPr>
        </p:nvSpPr>
        <p:spPr>
          <a:xfrm>
            <a:off x="4911639" y="2244217"/>
            <a:ext cx="2424300" cy="449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31" name="Google Shape;31;p5"/>
          <p:cNvGrpSpPr/>
          <p:nvPr/>
        </p:nvGrpSpPr>
        <p:grpSpPr>
          <a:xfrm>
            <a:off x="0" y="4"/>
            <a:ext cx="9144004" cy="5143496"/>
            <a:chOff x="0" y="4"/>
            <a:chExt cx="9144004" cy="5143496"/>
          </a:xfrm>
        </p:grpSpPr>
        <p:pic>
          <p:nvPicPr>
            <p:cNvPr id="32" name="Google Shape;32;p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33" name="Google Shape;33;p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34" name="Google Shape;34;p5"/>
          <p:cNvGrpSpPr/>
          <p:nvPr/>
        </p:nvGrpSpPr>
        <p:grpSpPr>
          <a:xfrm flipH="1" rot="-10539848">
            <a:off x="6108563" y="4049075"/>
            <a:ext cx="4573901" cy="3479217"/>
            <a:chOff x="1522650" y="1117750"/>
            <a:chExt cx="4574075" cy="3479350"/>
          </a:xfrm>
        </p:grpSpPr>
        <p:sp>
          <p:nvSpPr>
            <p:cNvPr id="35" name="Google Shape;35;p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9" name="Google Shape;39;p6"/>
          <p:cNvGrpSpPr/>
          <p:nvPr/>
        </p:nvGrpSpPr>
        <p:grpSpPr>
          <a:xfrm>
            <a:off x="0" y="4"/>
            <a:ext cx="9144004" cy="5143496"/>
            <a:chOff x="0" y="4"/>
            <a:chExt cx="9144004" cy="5143496"/>
          </a:xfrm>
        </p:grpSpPr>
        <p:pic>
          <p:nvPicPr>
            <p:cNvPr id="40" name="Google Shape;40;p6"/>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41" name="Google Shape;41;p6"/>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42" name="Google Shape;42;p6"/>
          <p:cNvGrpSpPr/>
          <p:nvPr/>
        </p:nvGrpSpPr>
        <p:grpSpPr>
          <a:xfrm flipH="1" rot="-10539848">
            <a:off x="6108563" y="4049075"/>
            <a:ext cx="4573901" cy="3479217"/>
            <a:chOff x="1522650" y="1117750"/>
            <a:chExt cx="4574075" cy="3479350"/>
          </a:xfrm>
        </p:grpSpPr>
        <p:sp>
          <p:nvSpPr>
            <p:cNvPr id="43" name="Google Shape;43;p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7"/>
          <p:cNvSpPr txBox="1"/>
          <p:nvPr>
            <p:ph type="title"/>
          </p:nvPr>
        </p:nvSpPr>
        <p:spPr>
          <a:xfrm>
            <a:off x="811975" y="829350"/>
            <a:ext cx="3993300" cy="989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 name="Google Shape;47;p7"/>
          <p:cNvSpPr txBox="1"/>
          <p:nvPr>
            <p:ph idx="1" type="subTitle"/>
          </p:nvPr>
        </p:nvSpPr>
        <p:spPr>
          <a:xfrm>
            <a:off x="811975" y="1878550"/>
            <a:ext cx="39933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48" name="Google Shape;48;p7"/>
          <p:cNvSpPr/>
          <p:nvPr>
            <p:ph idx="2" type="pic"/>
          </p:nvPr>
        </p:nvSpPr>
        <p:spPr>
          <a:xfrm>
            <a:off x="5088475" y="770400"/>
            <a:ext cx="3081600" cy="3602700"/>
          </a:xfrm>
          <a:prstGeom prst="roundRect">
            <a:avLst>
              <a:gd fmla="val 16667" name="adj"/>
            </a:avLst>
          </a:prstGeom>
          <a:noFill/>
          <a:ln>
            <a:noFill/>
          </a:ln>
        </p:spPr>
      </p:sp>
      <p:grpSp>
        <p:nvGrpSpPr>
          <p:cNvPr id="49" name="Google Shape;49;p7"/>
          <p:cNvGrpSpPr/>
          <p:nvPr/>
        </p:nvGrpSpPr>
        <p:grpSpPr>
          <a:xfrm>
            <a:off x="0" y="0"/>
            <a:ext cx="9144001" cy="5143500"/>
            <a:chOff x="0" y="0"/>
            <a:chExt cx="9144001" cy="5143500"/>
          </a:xfrm>
        </p:grpSpPr>
        <p:pic>
          <p:nvPicPr>
            <p:cNvPr id="50" name="Google Shape;50;p7"/>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51" name="Google Shape;51;p7"/>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52" name="Google Shape;52;p7"/>
          <p:cNvGrpSpPr/>
          <p:nvPr/>
        </p:nvGrpSpPr>
        <p:grpSpPr>
          <a:xfrm rot="10800000">
            <a:off x="6704226" y="3811697"/>
            <a:ext cx="4574075" cy="3479350"/>
            <a:chOff x="1522650" y="1117750"/>
            <a:chExt cx="4574075" cy="3479350"/>
          </a:xfrm>
        </p:grpSpPr>
        <p:sp>
          <p:nvSpPr>
            <p:cNvPr id="53" name="Google Shape;53;p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grpSp>
        <p:nvGrpSpPr>
          <p:cNvPr id="56" name="Google Shape;56;p8"/>
          <p:cNvGrpSpPr/>
          <p:nvPr/>
        </p:nvGrpSpPr>
        <p:grpSpPr>
          <a:xfrm>
            <a:off x="10" y="0"/>
            <a:ext cx="9143991" cy="5143500"/>
            <a:chOff x="10" y="0"/>
            <a:chExt cx="9143991" cy="5143500"/>
          </a:xfrm>
        </p:grpSpPr>
        <p:pic>
          <p:nvPicPr>
            <p:cNvPr id="57" name="Google Shape;57;p8"/>
            <p:cNvPicPr preferRelativeResize="0"/>
            <p:nvPr/>
          </p:nvPicPr>
          <p:blipFill>
            <a:blip r:embed="rId2">
              <a:alphaModFix/>
            </a:blip>
            <a:stretch>
              <a:fillRect/>
            </a:stretch>
          </p:blipFill>
          <p:spPr>
            <a:xfrm flipH="1">
              <a:off x="10" y="0"/>
              <a:ext cx="3405191" cy="5143500"/>
            </a:xfrm>
            <a:prstGeom prst="rect">
              <a:avLst/>
            </a:prstGeom>
            <a:noFill/>
            <a:ln>
              <a:noFill/>
            </a:ln>
          </p:spPr>
        </p:pic>
        <p:pic>
          <p:nvPicPr>
            <p:cNvPr id="58" name="Google Shape;58;p8"/>
            <p:cNvPicPr preferRelativeResize="0"/>
            <p:nvPr/>
          </p:nvPicPr>
          <p:blipFill>
            <a:blip r:embed="rId3">
              <a:alphaModFix/>
            </a:blip>
            <a:stretch>
              <a:fillRect/>
            </a:stretch>
          </p:blipFill>
          <p:spPr>
            <a:xfrm flipH="1">
              <a:off x="4416200" y="2886625"/>
              <a:ext cx="4727801" cy="2256875"/>
            </a:xfrm>
            <a:prstGeom prst="rect">
              <a:avLst/>
            </a:prstGeom>
            <a:noFill/>
            <a:ln>
              <a:noFill/>
            </a:ln>
          </p:spPr>
        </p:pic>
      </p:grpSp>
      <p:grpSp>
        <p:nvGrpSpPr>
          <p:cNvPr id="59" name="Google Shape;59;p8"/>
          <p:cNvGrpSpPr/>
          <p:nvPr/>
        </p:nvGrpSpPr>
        <p:grpSpPr>
          <a:xfrm rot="756538">
            <a:off x="5159567" y="-1927047"/>
            <a:ext cx="4574157" cy="3479412"/>
            <a:chOff x="1522650" y="1117750"/>
            <a:chExt cx="4574075" cy="3479350"/>
          </a:xfrm>
        </p:grpSpPr>
        <p:sp>
          <p:nvSpPr>
            <p:cNvPr id="60" name="Google Shape;60;p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8"/>
          <p:cNvSpPr txBox="1"/>
          <p:nvPr>
            <p:ph type="title"/>
          </p:nvPr>
        </p:nvSpPr>
        <p:spPr>
          <a:xfrm>
            <a:off x="3830000" y="1716400"/>
            <a:ext cx="4508100" cy="2529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grpSp>
        <p:nvGrpSpPr>
          <p:cNvPr id="64" name="Google Shape;64;p9"/>
          <p:cNvGrpSpPr/>
          <p:nvPr/>
        </p:nvGrpSpPr>
        <p:grpSpPr>
          <a:xfrm rot="756538">
            <a:off x="-714808" y="-2409347"/>
            <a:ext cx="4574157" cy="3479412"/>
            <a:chOff x="1522650" y="1117750"/>
            <a:chExt cx="4574075" cy="3479350"/>
          </a:xfrm>
        </p:grpSpPr>
        <p:sp>
          <p:nvSpPr>
            <p:cNvPr id="65" name="Google Shape;65;p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9"/>
          <p:cNvGrpSpPr/>
          <p:nvPr/>
        </p:nvGrpSpPr>
        <p:grpSpPr>
          <a:xfrm>
            <a:off x="0" y="0"/>
            <a:ext cx="9144001" cy="5143500"/>
            <a:chOff x="0" y="0"/>
            <a:chExt cx="9144001" cy="5143500"/>
          </a:xfrm>
        </p:grpSpPr>
        <p:pic>
          <p:nvPicPr>
            <p:cNvPr id="68" name="Google Shape;68;p9"/>
            <p:cNvPicPr preferRelativeResize="0"/>
            <p:nvPr/>
          </p:nvPicPr>
          <p:blipFill>
            <a:blip r:embed="rId2">
              <a:alphaModFix/>
            </a:blip>
            <a:stretch>
              <a:fillRect/>
            </a:stretch>
          </p:blipFill>
          <p:spPr>
            <a:xfrm flipH="1" rot="10800000">
              <a:off x="5738810" y="0"/>
              <a:ext cx="3405191" cy="5143500"/>
            </a:xfrm>
            <a:prstGeom prst="rect">
              <a:avLst/>
            </a:prstGeom>
            <a:noFill/>
            <a:ln>
              <a:noFill/>
            </a:ln>
          </p:spPr>
        </p:pic>
        <p:pic>
          <p:nvPicPr>
            <p:cNvPr id="69" name="Google Shape;69;p9"/>
            <p:cNvPicPr preferRelativeResize="0"/>
            <p:nvPr/>
          </p:nvPicPr>
          <p:blipFill>
            <a:blip r:embed="rId3">
              <a:alphaModFix/>
            </a:blip>
            <a:stretch>
              <a:fillRect/>
            </a:stretch>
          </p:blipFill>
          <p:spPr>
            <a:xfrm flipH="1" rot="10800000">
              <a:off x="0" y="0"/>
              <a:ext cx="4727801" cy="2256875"/>
            </a:xfrm>
            <a:prstGeom prst="rect">
              <a:avLst/>
            </a:prstGeom>
            <a:noFill/>
            <a:ln>
              <a:noFill/>
            </a:ln>
          </p:spPr>
        </p:pic>
      </p:grpSp>
      <p:sp>
        <p:nvSpPr>
          <p:cNvPr id="70" name="Google Shape;70;p9"/>
          <p:cNvSpPr txBox="1"/>
          <p:nvPr>
            <p:ph type="title"/>
          </p:nvPr>
        </p:nvSpPr>
        <p:spPr>
          <a:xfrm>
            <a:off x="713225" y="1528900"/>
            <a:ext cx="4872900" cy="1964400"/>
          </a:xfrm>
          <a:prstGeom prst="rect">
            <a:avLst/>
          </a:prstGeom>
        </p:spPr>
        <p:txBody>
          <a:bodyPr anchorCtr="0" anchor="b" bIns="91425" lIns="91425" spcFirstLastPara="1" rIns="91425" wrap="square" tIns="91425">
            <a:noAutofit/>
          </a:bodyPr>
          <a:lstStyle>
            <a:lvl1pPr lvl="0" rtl="0">
              <a:spcBef>
                <a:spcPts val="0"/>
              </a:spcBef>
              <a:spcAft>
                <a:spcPts val="0"/>
              </a:spcAft>
              <a:buSzPts val="5000"/>
              <a:buNone/>
              <a:defRPr sz="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1" name="Google Shape;71;p9"/>
          <p:cNvSpPr txBox="1"/>
          <p:nvPr>
            <p:ph idx="1" type="subTitle"/>
          </p:nvPr>
        </p:nvSpPr>
        <p:spPr>
          <a:xfrm>
            <a:off x="713225" y="3640050"/>
            <a:ext cx="4872900" cy="45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10"/>
          <p:cNvSpPr/>
          <p:nvPr>
            <p:ph idx="2" type="pic"/>
          </p:nvPr>
        </p:nvSpPr>
        <p:spPr>
          <a:xfrm>
            <a:off x="0" y="0"/>
            <a:ext cx="9144000" cy="5143500"/>
          </a:xfrm>
          <a:prstGeom prst="rect">
            <a:avLst/>
          </a:prstGeom>
          <a:noFill/>
          <a:ln>
            <a:noFill/>
          </a:ln>
        </p:spPr>
      </p:sp>
      <p:sp>
        <p:nvSpPr>
          <p:cNvPr id="74" name="Google Shape;74;p10"/>
          <p:cNvSpPr txBox="1"/>
          <p:nvPr>
            <p:ph type="title"/>
          </p:nvPr>
        </p:nvSpPr>
        <p:spPr>
          <a:xfrm>
            <a:off x="720000" y="4014450"/>
            <a:ext cx="5713200" cy="5727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75" name="Google Shape;75;p10"/>
          <p:cNvGrpSpPr/>
          <p:nvPr/>
        </p:nvGrpSpPr>
        <p:grpSpPr>
          <a:xfrm>
            <a:off x="0" y="4"/>
            <a:ext cx="9144004" cy="5143496"/>
            <a:chOff x="0" y="4"/>
            <a:chExt cx="9144004" cy="5143496"/>
          </a:xfrm>
        </p:grpSpPr>
        <p:pic>
          <p:nvPicPr>
            <p:cNvPr id="76" name="Google Shape;76;p1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77" name="Google Shape;77;p1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78" name="Google Shape;78;p10"/>
          <p:cNvGrpSpPr/>
          <p:nvPr/>
        </p:nvGrpSpPr>
        <p:grpSpPr>
          <a:xfrm>
            <a:off x="-896231" y="-2525369"/>
            <a:ext cx="11703669" cy="10221582"/>
            <a:chOff x="-896231" y="-2525369"/>
            <a:chExt cx="11703669" cy="10221582"/>
          </a:xfrm>
        </p:grpSpPr>
        <p:grpSp>
          <p:nvGrpSpPr>
            <p:cNvPr id="79" name="Google Shape;79;p10"/>
            <p:cNvGrpSpPr/>
            <p:nvPr/>
          </p:nvGrpSpPr>
          <p:grpSpPr>
            <a:xfrm flipH="1" rot="-10539848">
              <a:off x="6108563" y="4049075"/>
              <a:ext cx="4573901" cy="3479217"/>
              <a:chOff x="1522650" y="1117750"/>
              <a:chExt cx="4574075" cy="3479350"/>
            </a:xfrm>
          </p:grpSpPr>
          <p:sp>
            <p:nvSpPr>
              <p:cNvPr id="80" name="Google Shape;80;p1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10"/>
            <p:cNvGrpSpPr/>
            <p:nvPr/>
          </p:nvGrpSpPr>
          <p:grpSpPr>
            <a:xfrm>
              <a:off x="-896231" y="-2525369"/>
              <a:ext cx="4573618" cy="3479002"/>
              <a:chOff x="1522650" y="1117750"/>
              <a:chExt cx="4574075" cy="3479350"/>
            </a:xfrm>
          </p:grpSpPr>
          <p:sp>
            <p:nvSpPr>
              <p:cNvPr id="83" name="Google Shape;83;p1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5" name="Shape 85"/>
        <p:cNvGrpSpPr/>
        <p:nvPr/>
      </p:nvGrpSpPr>
      <p:grpSpPr>
        <a:xfrm>
          <a:off x="0" y="0"/>
          <a:ext cx="0" cy="0"/>
          <a:chOff x="0" y="0"/>
          <a:chExt cx="0" cy="0"/>
        </a:xfrm>
      </p:grpSpPr>
      <p:sp>
        <p:nvSpPr>
          <p:cNvPr id="86" name="Google Shape;86;p11"/>
          <p:cNvSpPr txBox="1"/>
          <p:nvPr>
            <p:ph hasCustomPrompt="1" type="title"/>
          </p:nvPr>
        </p:nvSpPr>
        <p:spPr>
          <a:xfrm>
            <a:off x="4076350" y="2296400"/>
            <a:ext cx="3843300" cy="1085100"/>
          </a:xfrm>
          <a:prstGeom prst="rect">
            <a:avLst/>
          </a:prstGeom>
          <a:solidFill>
            <a:schemeClr val="dk2"/>
          </a:solidFill>
        </p:spPr>
        <p:txBody>
          <a:bodyPr anchorCtr="0" anchor="ctr"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7" name="Google Shape;87;p11"/>
          <p:cNvSpPr txBox="1"/>
          <p:nvPr>
            <p:ph idx="1" type="subTitle"/>
          </p:nvPr>
        </p:nvSpPr>
        <p:spPr>
          <a:xfrm>
            <a:off x="4076350" y="3426700"/>
            <a:ext cx="38433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88" name="Google Shape;88;p11"/>
          <p:cNvPicPr preferRelativeResize="0"/>
          <p:nvPr/>
        </p:nvPicPr>
        <p:blipFill>
          <a:blip r:embed="rId2">
            <a:alphaModFix/>
          </a:blip>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9" name="Shape 8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0" name="Shape 90"/>
        <p:cNvGrpSpPr/>
        <p:nvPr/>
      </p:nvGrpSpPr>
      <p:grpSpPr>
        <a:xfrm>
          <a:off x="0" y="0"/>
          <a:ext cx="0" cy="0"/>
          <a:chOff x="0" y="0"/>
          <a:chExt cx="0" cy="0"/>
        </a:xfrm>
      </p:grpSpPr>
      <p:sp>
        <p:nvSpPr>
          <p:cNvPr id="91" name="Google Shape;9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 name="Google Shape;92;p13"/>
          <p:cNvSpPr txBox="1"/>
          <p:nvPr>
            <p:ph hasCustomPrompt="1" idx="2" type="title"/>
          </p:nvPr>
        </p:nvSpPr>
        <p:spPr>
          <a:xfrm>
            <a:off x="720000" y="1480883"/>
            <a:ext cx="734700" cy="4476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p:nvPr>
            <p:ph hasCustomPrompt="1" idx="3" type="title"/>
          </p:nvPr>
        </p:nvSpPr>
        <p:spPr>
          <a:xfrm>
            <a:off x="720000" y="2990491"/>
            <a:ext cx="734700" cy="4476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p:nvPr>
            <p:ph hasCustomPrompt="1" idx="4" type="title"/>
          </p:nvPr>
        </p:nvSpPr>
        <p:spPr>
          <a:xfrm>
            <a:off x="3306000" y="1480883"/>
            <a:ext cx="734700" cy="4476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p:nvPr>
            <p:ph hasCustomPrompt="1" idx="5" type="title"/>
          </p:nvPr>
        </p:nvSpPr>
        <p:spPr>
          <a:xfrm>
            <a:off x="3306000" y="2990491"/>
            <a:ext cx="734700" cy="4476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6" name="Google Shape;96;p13"/>
          <p:cNvSpPr txBox="1"/>
          <p:nvPr>
            <p:ph hasCustomPrompt="1" idx="6" type="title"/>
          </p:nvPr>
        </p:nvSpPr>
        <p:spPr>
          <a:xfrm>
            <a:off x="5892000" y="1480883"/>
            <a:ext cx="734700" cy="4476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p:nvPr>
            <p:ph hasCustomPrompt="1" idx="7" type="title"/>
          </p:nvPr>
        </p:nvSpPr>
        <p:spPr>
          <a:xfrm>
            <a:off x="5892000" y="2990491"/>
            <a:ext cx="734700" cy="4476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 name="Google Shape;98;p13"/>
          <p:cNvSpPr txBox="1"/>
          <p:nvPr>
            <p:ph idx="1" type="subTitle"/>
          </p:nvPr>
        </p:nvSpPr>
        <p:spPr>
          <a:xfrm>
            <a:off x="720000" y="2026450"/>
            <a:ext cx="2532000" cy="502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9" name="Google Shape;99;p13"/>
          <p:cNvSpPr txBox="1"/>
          <p:nvPr>
            <p:ph idx="8" type="subTitle"/>
          </p:nvPr>
        </p:nvSpPr>
        <p:spPr>
          <a:xfrm>
            <a:off x="3306000" y="2026450"/>
            <a:ext cx="2532000" cy="502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0" name="Google Shape;100;p13"/>
          <p:cNvSpPr txBox="1"/>
          <p:nvPr>
            <p:ph idx="9" type="subTitle"/>
          </p:nvPr>
        </p:nvSpPr>
        <p:spPr>
          <a:xfrm>
            <a:off x="5892000" y="2026450"/>
            <a:ext cx="2532000" cy="502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1" name="Google Shape;101;p13"/>
          <p:cNvSpPr txBox="1"/>
          <p:nvPr>
            <p:ph idx="13" type="subTitle"/>
          </p:nvPr>
        </p:nvSpPr>
        <p:spPr>
          <a:xfrm>
            <a:off x="720000" y="3544900"/>
            <a:ext cx="2532000" cy="49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2" name="Google Shape;102;p13"/>
          <p:cNvSpPr txBox="1"/>
          <p:nvPr>
            <p:ph idx="14" type="subTitle"/>
          </p:nvPr>
        </p:nvSpPr>
        <p:spPr>
          <a:xfrm>
            <a:off x="3306000" y="3544900"/>
            <a:ext cx="2532000" cy="49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3" name="Google Shape;103;p13"/>
          <p:cNvSpPr txBox="1"/>
          <p:nvPr>
            <p:ph idx="15" type="subTitle"/>
          </p:nvPr>
        </p:nvSpPr>
        <p:spPr>
          <a:xfrm>
            <a:off x="5892000" y="3544900"/>
            <a:ext cx="2532000" cy="49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04" name="Google Shape;104;p13"/>
          <p:cNvGrpSpPr/>
          <p:nvPr/>
        </p:nvGrpSpPr>
        <p:grpSpPr>
          <a:xfrm>
            <a:off x="0" y="4"/>
            <a:ext cx="9144004" cy="5143496"/>
            <a:chOff x="0" y="4"/>
            <a:chExt cx="9144004" cy="5143496"/>
          </a:xfrm>
        </p:grpSpPr>
        <p:pic>
          <p:nvPicPr>
            <p:cNvPr id="105" name="Google Shape;105;p13"/>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06" name="Google Shape;106;p13"/>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07" name="Google Shape;107;p13"/>
          <p:cNvGrpSpPr/>
          <p:nvPr/>
        </p:nvGrpSpPr>
        <p:grpSpPr>
          <a:xfrm flipH="1" rot="-10539848">
            <a:off x="6108563" y="4049075"/>
            <a:ext cx="4573901" cy="3479217"/>
            <a:chOff x="1522650" y="1117750"/>
            <a:chExt cx="4574075" cy="3479350"/>
          </a:xfrm>
        </p:grpSpPr>
        <p:sp>
          <p:nvSpPr>
            <p:cNvPr id="108" name="Google Shape;108;p13"/>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0" name="Shape 110"/>
        <p:cNvGrpSpPr/>
        <p:nvPr/>
      </p:nvGrpSpPr>
      <p:grpSpPr>
        <a:xfrm>
          <a:off x="0" y="0"/>
          <a:ext cx="0" cy="0"/>
          <a:chOff x="0" y="0"/>
          <a:chExt cx="0" cy="0"/>
        </a:xfrm>
      </p:grpSpPr>
      <p:grpSp>
        <p:nvGrpSpPr>
          <p:cNvPr id="111" name="Google Shape;111;p14"/>
          <p:cNvGrpSpPr/>
          <p:nvPr/>
        </p:nvGrpSpPr>
        <p:grpSpPr>
          <a:xfrm>
            <a:off x="0" y="0"/>
            <a:ext cx="9144001" cy="5143500"/>
            <a:chOff x="0" y="0"/>
            <a:chExt cx="9144001" cy="5143500"/>
          </a:xfrm>
        </p:grpSpPr>
        <p:pic>
          <p:nvPicPr>
            <p:cNvPr id="112" name="Google Shape;112;p14"/>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13" name="Google Shape;113;p14"/>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14" name="Google Shape;114;p14"/>
          <p:cNvGrpSpPr/>
          <p:nvPr/>
        </p:nvGrpSpPr>
        <p:grpSpPr>
          <a:xfrm rot="10800000">
            <a:off x="6704226" y="3811697"/>
            <a:ext cx="4574075" cy="3479350"/>
            <a:chOff x="1522650" y="1117750"/>
            <a:chExt cx="4574075" cy="3479350"/>
          </a:xfrm>
        </p:grpSpPr>
        <p:sp>
          <p:nvSpPr>
            <p:cNvPr id="115" name="Google Shape;115;p1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 name="Google Shape;117;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18" name="Shape 118"/>
        <p:cNvGrpSpPr/>
        <p:nvPr/>
      </p:nvGrpSpPr>
      <p:grpSpPr>
        <a:xfrm>
          <a:off x="0" y="0"/>
          <a:ext cx="0" cy="0"/>
          <a:chOff x="0" y="0"/>
          <a:chExt cx="0" cy="0"/>
        </a:xfrm>
      </p:grpSpPr>
      <p:grpSp>
        <p:nvGrpSpPr>
          <p:cNvPr id="119" name="Google Shape;119;p15"/>
          <p:cNvGrpSpPr/>
          <p:nvPr/>
        </p:nvGrpSpPr>
        <p:grpSpPr>
          <a:xfrm>
            <a:off x="0" y="4"/>
            <a:ext cx="9144004" cy="5143496"/>
            <a:chOff x="0" y="4"/>
            <a:chExt cx="9144004" cy="5143496"/>
          </a:xfrm>
        </p:grpSpPr>
        <p:pic>
          <p:nvPicPr>
            <p:cNvPr id="120" name="Google Shape;120;p15"/>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21" name="Google Shape;121;p15"/>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22" name="Google Shape;122;p15"/>
          <p:cNvGrpSpPr/>
          <p:nvPr/>
        </p:nvGrpSpPr>
        <p:grpSpPr>
          <a:xfrm flipH="1" rot="-10539848">
            <a:off x="6108563" y="4049075"/>
            <a:ext cx="4573901" cy="3479217"/>
            <a:chOff x="1522650" y="1117750"/>
            <a:chExt cx="4574075" cy="3479350"/>
          </a:xfrm>
        </p:grpSpPr>
        <p:sp>
          <p:nvSpPr>
            <p:cNvPr id="123" name="Google Shape;123;p1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5"/>
          <p:cNvSpPr txBox="1"/>
          <p:nvPr>
            <p:ph type="title"/>
          </p:nvPr>
        </p:nvSpPr>
        <p:spPr>
          <a:xfrm>
            <a:off x="3889175" y="1000050"/>
            <a:ext cx="32055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6" name="Google Shape;126;p15"/>
          <p:cNvSpPr txBox="1"/>
          <p:nvPr>
            <p:ph idx="1" type="subTitle"/>
          </p:nvPr>
        </p:nvSpPr>
        <p:spPr>
          <a:xfrm>
            <a:off x="3889175" y="2131950"/>
            <a:ext cx="4185300" cy="2011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27" name="Shape 127"/>
        <p:cNvGrpSpPr/>
        <p:nvPr/>
      </p:nvGrpSpPr>
      <p:grpSpPr>
        <a:xfrm>
          <a:off x="0" y="0"/>
          <a:ext cx="0" cy="0"/>
          <a:chOff x="0" y="0"/>
          <a:chExt cx="0" cy="0"/>
        </a:xfrm>
      </p:grpSpPr>
      <p:grpSp>
        <p:nvGrpSpPr>
          <p:cNvPr id="128" name="Google Shape;128;p16"/>
          <p:cNvGrpSpPr/>
          <p:nvPr/>
        </p:nvGrpSpPr>
        <p:grpSpPr>
          <a:xfrm>
            <a:off x="0" y="0"/>
            <a:ext cx="9144001" cy="5143500"/>
            <a:chOff x="0" y="0"/>
            <a:chExt cx="9144001" cy="5143500"/>
          </a:xfrm>
        </p:grpSpPr>
        <p:pic>
          <p:nvPicPr>
            <p:cNvPr id="129" name="Google Shape;129;p16"/>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30" name="Google Shape;130;p16"/>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31" name="Google Shape;131;p16"/>
          <p:cNvGrpSpPr/>
          <p:nvPr/>
        </p:nvGrpSpPr>
        <p:grpSpPr>
          <a:xfrm rot="10800000">
            <a:off x="6704226" y="3811697"/>
            <a:ext cx="4574075" cy="3479350"/>
            <a:chOff x="1522650" y="1117750"/>
            <a:chExt cx="4574075" cy="3479350"/>
          </a:xfrm>
        </p:grpSpPr>
        <p:sp>
          <p:nvSpPr>
            <p:cNvPr id="132" name="Google Shape;132;p1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 name="Google Shape;134;p16"/>
          <p:cNvSpPr txBox="1"/>
          <p:nvPr>
            <p:ph type="title"/>
          </p:nvPr>
        </p:nvSpPr>
        <p:spPr>
          <a:xfrm>
            <a:off x="713225" y="707075"/>
            <a:ext cx="2345400" cy="974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5" name="Google Shape;135;p16"/>
          <p:cNvSpPr txBox="1"/>
          <p:nvPr>
            <p:ph idx="1" type="subTitle"/>
          </p:nvPr>
        </p:nvSpPr>
        <p:spPr>
          <a:xfrm>
            <a:off x="713225" y="1606775"/>
            <a:ext cx="2345400" cy="112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6" name="Google Shape;136;p16"/>
          <p:cNvSpPr/>
          <p:nvPr>
            <p:ph idx="2" type="pic"/>
          </p:nvPr>
        </p:nvSpPr>
        <p:spPr>
          <a:xfrm>
            <a:off x="5588500" y="539500"/>
            <a:ext cx="2801100" cy="4064700"/>
          </a:xfrm>
          <a:prstGeom prst="roundRect">
            <a:avLst>
              <a:gd fmla="val 16667" name="adj"/>
            </a:avLst>
          </a:prstGeom>
          <a:noFill/>
          <a:ln>
            <a:noFill/>
          </a:ln>
        </p:spPr>
      </p:sp>
      <p:sp>
        <p:nvSpPr>
          <p:cNvPr id="137" name="Google Shape;137;p16"/>
          <p:cNvSpPr/>
          <p:nvPr>
            <p:ph idx="3" type="pic"/>
          </p:nvPr>
        </p:nvSpPr>
        <p:spPr>
          <a:xfrm>
            <a:off x="3171450" y="539500"/>
            <a:ext cx="2304300" cy="2285700"/>
          </a:xfrm>
          <a:prstGeom prst="roundRect">
            <a:avLst>
              <a:gd fmla="val 16667" name="adj"/>
            </a:avLst>
          </a:prstGeom>
          <a:noFill/>
          <a:ln>
            <a:noFill/>
          </a:ln>
        </p:spPr>
      </p:sp>
      <p:sp>
        <p:nvSpPr>
          <p:cNvPr id="138" name="Google Shape;138;p16"/>
          <p:cNvSpPr/>
          <p:nvPr>
            <p:ph idx="4" type="pic"/>
          </p:nvPr>
        </p:nvSpPr>
        <p:spPr>
          <a:xfrm>
            <a:off x="3171450" y="2953775"/>
            <a:ext cx="2304300" cy="1650300"/>
          </a:xfrm>
          <a:prstGeom prst="roundRect">
            <a:avLst>
              <a:gd fmla="val 16667" name="adj"/>
            </a:avLst>
          </a:prstGeom>
          <a:noFill/>
          <a:ln>
            <a:noFill/>
          </a:ln>
        </p:spPr>
      </p:sp>
      <p:sp>
        <p:nvSpPr>
          <p:cNvPr id="139" name="Google Shape;139;p16"/>
          <p:cNvSpPr/>
          <p:nvPr>
            <p:ph idx="5" type="pic"/>
          </p:nvPr>
        </p:nvSpPr>
        <p:spPr>
          <a:xfrm>
            <a:off x="754400" y="2953775"/>
            <a:ext cx="2304300" cy="1650300"/>
          </a:xfrm>
          <a:prstGeom prst="roundRect">
            <a:avLst>
              <a:gd fmla="val 1666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2">
    <p:spTree>
      <p:nvGrpSpPr>
        <p:cNvPr id="140" name="Shape 140"/>
        <p:cNvGrpSpPr/>
        <p:nvPr/>
      </p:nvGrpSpPr>
      <p:grpSpPr>
        <a:xfrm>
          <a:off x="0" y="0"/>
          <a:ext cx="0" cy="0"/>
          <a:chOff x="0" y="0"/>
          <a:chExt cx="0" cy="0"/>
        </a:xfrm>
      </p:grpSpPr>
      <p:grpSp>
        <p:nvGrpSpPr>
          <p:cNvPr id="141" name="Google Shape;141;p17"/>
          <p:cNvGrpSpPr/>
          <p:nvPr/>
        </p:nvGrpSpPr>
        <p:grpSpPr>
          <a:xfrm>
            <a:off x="0" y="4"/>
            <a:ext cx="9144004" cy="5143496"/>
            <a:chOff x="0" y="4"/>
            <a:chExt cx="9144004" cy="5143496"/>
          </a:xfrm>
        </p:grpSpPr>
        <p:pic>
          <p:nvPicPr>
            <p:cNvPr id="142" name="Google Shape;142;p17"/>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43" name="Google Shape;143;p17"/>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44" name="Google Shape;144;p17"/>
          <p:cNvGrpSpPr/>
          <p:nvPr/>
        </p:nvGrpSpPr>
        <p:grpSpPr>
          <a:xfrm flipH="1" rot="-10539848">
            <a:off x="6108563" y="4049075"/>
            <a:ext cx="4573901" cy="3479217"/>
            <a:chOff x="1522650" y="1117750"/>
            <a:chExt cx="4574075" cy="3479350"/>
          </a:xfrm>
        </p:grpSpPr>
        <p:sp>
          <p:nvSpPr>
            <p:cNvPr id="145" name="Google Shape;145;p1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8" name="Google Shape;148;p17"/>
          <p:cNvSpPr txBox="1"/>
          <p:nvPr>
            <p:ph idx="1" type="subTitle"/>
          </p:nvPr>
        </p:nvSpPr>
        <p:spPr>
          <a:xfrm>
            <a:off x="719975" y="1164450"/>
            <a:ext cx="3748800" cy="1188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3">
    <p:spTree>
      <p:nvGrpSpPr>
        <p:cNvPr id="149" name="Shape 149"/>
        <p:cNvGrpSpPr/>
        <p:nvPr/>
      </p:nvGrpSpPr>
      <p:grpSpPr>
        <a:xfrm>
          <a:off x="0" y="0"/>
          <a:ext cx="0" cy="0"/>
          <a:chOff x="0" y="0"/>
          <a:chExt cx="0" cy="0"/>
        </a:xfrm>
      </p:grpSpPr>
      <p:grpSp>
        <p:nvGrpSpPr>
          <p:cNvPr id="150" name="Google Shape;150;p18"/>
          <p:cNvGrpSpPr/>
          <p:nvPr/>
        </p:nvGrpSpPr>
        <p:grpSpPr>
          <a:xfrm>
            <a:off x="0" y="0"/>
            <a:ext cx="9144001" cy="5143500"/>
            <a:chOff x="0" y="0"/>
            <a:chExt cx="9144001" cy="5143500"/>
          </a:xfrm>
        </p:grpSpPr>
        <p:pic>
          <p:nvPicPr>
            <p:cNvPr id="151" name="Google Shape;151;p18"/>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52" name="Google Shape;152;p18"/>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53" name="Google Shape;153;p18"/>
          <p:cNvGrpSpPr/>
          <p:nvPr/>
        </p:nvGrpSpPr>
        <p:grpSpPr>
          <a:xfrm rot="10800000">
            <a:off x="6704226" y="3811697"/>
            <a:ext cx="4574075" cy="3479350"/>
            <a:chOff x="1522650" y="1117750"/>
            <a:chExt cx="4574075" cy="3479350"/>
          </a:xfrm>
        </p:grpSpPr>
        <p:sp>
          <p:nvSpPr>
            <p:cNvPr id="154" name="Google Shape;154;p1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18"/>
          <p:cNvSpPr txBox="1"/>
          <p:nvPr>
            <p:ph idx="1" type="subTitle"/>
          </p:nvPr>
        </p:nvSpPr>
        <p:spPr>
          <a:xfrm>
            <a:off x="719975" y="1393800"/>
            <a:ext cx="5015400" cy="2203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200"/>
              <a:buChar char="●"/>
              <a:defRPr/>
            </a:lvl1pPr>
            <a:lvl2pPr lvl="1" rtl="0">
              <a:spcBef>
                <a:spcPts val="0"/>
              </a:spcBef>
              <a:spcAft>
                <a:spcPts val="0"/>
              </a:spcAft>
              <a:buSzPts val="1200"/>
              <a:buChar char="○"/>
              <a:defRPr/>
            </a:lvl2pPr>
            <a:lvl3pPr lvl="2" rtl="0">
              <a:spcBef>
                <a:spcPts val="0"/>
              </a:spcBef>
              <a:spcAft>
                <a:spcPts val="0"/>
              </a:spcAft>
              <a:buSzPts val="1200"/>
              <a:buChar char="■"/>
              <a:defRPr/>
            </a:lvl3pPr>
            <a:lvl4pPr lvl="3" rtl="0">
              <a:spcBef>
                <a:spcPts val="0"/>
              </a:spcBef>
              <a:spcAft>
                <a:spcPts val="0"/>
              </a:spcAft>
              <a:buSzPts val="1200"/>
              <a:buChar char="●"/>
              <a:defRPr/>
            </a:lvl4pPr>
            <a:lvl5pPr lvl="4" rtl="0">
              <a:spcBef>
                <a:spcPts val="0"/>
              </a:spcBef>
              <a:spcAft>
                <a:spcPts val="0"/>
              </a:spcAft>
              <a:buSzPts val="1200"/>
              <a:buChar char="○"/>
              <a:defRPr/>
            </a:lvl5pPr>
            <a:lvl6pPr lvl="5" rtl="0">
              <a:spcBef>
                <a:spcPts val="0"/>
              </a:spcBef>
              <a:spcAft>
                <a:spcPts val="0"/>
              </a:spcAft>
              <a:buSzPts val="1200"/>
              <a:buChar char="■"/>
              <a:defRPr/>
            </a:lvl6pPr>
            <a:lvl7pPr lvl="6" rtl="0">
              <a:spcBef>
                <a:spcPts val="0"/>
              </a:spcBef>
              <a:spcAft>
                <a:spcPts val="0"/>
              </a:spcAft>
              <a:buSzPts val="1200"/>
              <a:buChar char="●"/>
              <a:defRPr/>
            </a:lvl7pPr>
            <a:lvl8pPr lvl="7" rtl="0">
              <a:spcBef>
                <a:spcPts val="0"/>
              </a:spcBef>
              <a:spcAft>
                <a:spcPts val="0"/>
              </a:spcAft>
              <a:buSzPts val="1200"/>
              <a:buChar char="○"/>
              <a:defRPr/>
            </a:lvl8pPr>
            <a:lvl9pPr lvl="8" rtl="0">
              <a:spcBef>
                <a:spcPts val="0"/>
              </a:spcBef>
              <a:spcAft>
                <a:spcPts val="0"/>
              </a:spcAft>
              <a:buSzPts val="1200"/>
              <a:buChar char="■"/>
              <a:defRPr/>
            </a:lvl9pPr>
          </a:lstStyle>
          <a:p/>
        </p:txBody>
      </p:sp>
      <p:sp>
        <p:nvSpPr>
          <p:cNvPr id="157" name="Google Shape;157;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8" name="Shape 158"/>
        <p:cNvGrpSpPr/>
        <p:nvPr/>
      </p:nvGrpSpPr>
      <p:grpSpPr>
        <a:xfrm>
          <a:off x="0" y="0"/>
          <a:ext cx="0" cy="0"/>
          <a:chOff x="0" y="0"/>
          <a:chExt cx="0" cy="0"/>
        </a:xfrm>
      </p:grpSpPr>
      <p:grpSp>
        <p:nvGrpSpPr>
          <p:cNvPr id="159" name="Google Shape;159;p19"/>
          <p:cNvGrpSpPr/>
          <p:nvPr/>
        </p:nvGrpSpPr>
        <p:grpSpPr>
          <a:xfrm>
            <a:off x="0" y="0"/>
            <a:ext cx="9144001" cy="5143500"/>
            <a:chOff x="0" y="0"/>
            <a:chExt cx="9144001" cy="5143500"/>
          </a:xfrm>
        </p:grpSpPr>
        <p:pic>
          <p:nvPicPr>
            <p:cNvPr id="160" name="Google Shape;160;p19"/>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61" name="Google Shape;161;p19"/>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62" name="Google Shape;162;p19"/>
          <p:cNvGrpSpPr/>
          <p:nvPr/>
        </p:nvGrpSpPr>
        <p:grpSpPr>
          <a:xfrm rot="10800000">
            <a:off x="6704226" y="3811697"/>
            <a:ext cx="4574075" cy="3479350"/>
            <a:chOff x="1522650" y="1117750"/>
            <a:chExt cx="4574075" cy="3479350"/>
          </a:xfrm>
        </p:grpSpPr>
        <p:sp>
          <p:nvSpPr>
            <p:cNvPr id="163" name="Google Shape;163;p1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 name="Google Shape;16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6" name="Google Shape;166;p19"/>
          <p:cNvSpPr txBox="1"/>
          <p:nvPr>
            <p:ph idx="1" type="subTitle"/>
          </p:nvPr>
        </p:nvSpPr>
        <p:spPr>
          <a:xfrm>
            <a:off x="865525" y="2741725"/>
            <a:ext cx="2189400" cy="186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7" name="Google Shape;167;p19"/>
          <p:cNvSpPr txBox="1"/>
          <p:nvPr>
            <p:ph idx="2" type="subTitle"/>
          </p:nvPr>
        </p:nvSpPr>
        <p:spPr>
          <a:xfrm>
            <a:off x="3433873" y="2741725"/>
            <a:ext cx="2189400" cy="186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8" name="Google Shape;168;p19"/>
          <p:cNvSpPr txBox="1"/>
          <p:nvPr>
            <p:ph idx="3" type="subTitle"/>
          </p:nvPr>
        </p:nvSpPr>
        <p:spPr>
          <a:xfrm>
            <a:off x="6002228" y="2741725"/>
            <a:ext cx="2189400" cy="186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9" name="Google Shape;169;p19"/>
          <p:cNvSpPr txBox="1"/>
          <p:nvPr>
            <p:ph idx="4" type="subTitle"/>
          </p:nvPr>
        </p:nvSpPr>
        <p:spPr>
          <a:xfrm>
            <a:off x="865525" y="2046500"/>
            <a:ext cx="21894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0" name="Google Shape;170;p19"/>
          <p:cNvSpPr txBox="1"/>
          <p:nvPr>
            <p:ph idx="5" type="subTitle"/>
          </p:nvPr>
        </p:nvSpPr>
        <p:spPr>
          <a:xfrm>
            <a:off x="3433878" y="2046500"/>
            <a:ext cx="21894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1" name="Google Shape;171;p19"/>
          <p:cNvSpPr txBox="1"/>
          <p:nvPr>
            <p:ph idx="6" type="subTitle"/>
          </p:nvPr>
        </p:nvSpPr>
        <p:spPr>
          <a:xfrm>
            <a:off x="6002231" y="2046500"/>
            <a:ext cx="21894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2" name="Shape 172"/>
        <p:cNvGrpSpPr/>
        <p:nvPr/>
      </p:nvGrpSpPr>
      <p:grpSpPr>
        <a:xfrm>
          <a:off x="0" y="0"/>
          <a:ext cx="0" cy="0"/>
          <a:chOff x="0" y="0"/>
          <a:chExt cx="0" cy="0"/>
        </a:xfrm>
      </p:grpSpPr>
      <p:grpSp>
        <p:nvGrpSpPr>
          <p:cNvPr id="173" name="Google Shape;173;p20"/>
          <p:cNvGrpSpPr/>
          <p:nvPr/>
        </p:nvGrpSpPr>
        <p:grpSpPr>
          <a:xfrm>
            <a:off x="0" y="4"/>
            <a:ext cx="9144004" cy="5143496"/>
            <a:chOff x="0" y="4"/>
            <a:chExt cx="9144004" cy="5143496"/>
          </a:xfrm>
        </p:grpSpPr>
        <p:pic>
          <p:nvPicPr>
            <p:cNvPr id="174" name="Google Shape;174;p20"/>
            <p:cNvPicPr preferRelativeResize="0"/>
            <p:nvPr/>
          </p:nvPicPr>
          <p:blipFill>
            <a:blip r:embed="rId2">
              <a:alphaModFix/>
            </a:blip>
            <a:stretch>
              <a:fillRect/>
            </a:stretch>
          </p:blipFill>
          <p:spPr>
            <a:xfrm rot="-5400000">
              <a:off x="-564975" y="1487975"/>
              <a:ext cx="4220500" cy="3090550"/>
            </a:xfrm>
            <a:prstGeom prst="rect">
              <a:avLst/>
            </a:prstGeom>
            <a:noFill/>
            <a:ln>
              <a:noFill/>
            </a:ln>
          </p:spPr>
        </p:pic>
        <p:pic>
          <p:nvPicPr>
            <p:cNvPr id="175" name="Google Shape;175;p20"/>
            <p:cNvPicPr preferRelativeResize="0"/>
            <p:nvPr/>
          </p:nvPicPr>
          <p:blipFill>
            <a:blip r:embed="rId3">
              <a:alphaModFix/>
            </a:blip>
            <a:stretch>
              <a:fillRect/>
            </a:stretch>
          </p:blipFill>
          <p:spPr>
            <a:xfrm rot="-5400000">
              <a:off x="6335799" y="-429125"/>
              <a:ext cx="2379077" cy="3237334"/>
            </a:xfrm>
            <a:prstGeom prst="rect">
              <a:avLst/>
            </a:prstGeom>
            <a:noFill/>
            <a:ln>
              <a:noFill/>
            </a:ln>
          </p:spPr>
        </p:pic>
      </p:grpSp>
      <p:grpSp>
        <p:nvGrpSpPr>
          <p:cNvPr id="176" name="Google Shape;176;p20"/>
          <p:cNvGrpSpPr/>
          <p:nvPr/>
        </p:nvGrpSpPr>
        <p:grpSpPr>
          <a:xfrm flipH="1" rot="-10539848">
            <a:off x="6108563" y="4049075"/>
            <a:ext cx="4573901" cy="3479217"/>
            <a:chOff x="1522650" y="1117750"/>
            <a:chExt cx="4574075" cy="3479350"/>
          </a:xfrm>
        </p:grpSpPr>
        <p:sp>
          <p:nvSpPr>
            <p:cNvPr id="177" name="Google Shape;177;p2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0" name="Google Shape;180;p20"/>
          <p:cNvSpPr txBox="1"/>
          <p:nvPr>
            <p:ph idx="1" type="subTitle"/>
          </p:nvPr>
        </p:nvSpPr>
        <p:spPr>
          <a:xfrm>
            <a:off x="1225674" y="1659425"/>
            <a:ext cx="32187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1" name="Google Shape;181;p20"/>
          <p:cNvSpPr txBox="1"/>
          <p:nvPr>
            <p:ph idx="2" type="subTitle"/>
          </p:nvPr>
        </p:nvSpPr>
        <p:spPr>
          <a:xfrm>
            <a:off x="5052125" y="1659425"/>
            <a:ext cx="32187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2" name="Google Shape;182;p20"/>
          <p:cNvSpPr txBox="1"/>
          <p:nvPr>
            <p:ph idx="3" type="subTitle"/>
          </p:nvPr>
        </p:nvSpPr>
        <p:spPr>
          <a:xfrm>
            <a:off x="1225674" y="3320000"/>
            <a:ext cx="32187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3" name="Google Shape;183;p20"/>
          <p:cNvSpPr txBox="1"/>
          <p:nvPr>
            <p:ph idx="4" type="subTitle"/>
          </p:nvPr>
        </p:nvSpPr>
        <p:spPr>
          <a:xfrm>
            <a:off x="5052125" y="3320000"/>
            <a:ext cx="32187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4" name="Google Shape;184;p20"/>
          <p:cNvSpPr txBox="1"/>
          <p:nvPr>
            <p:ph idx="5" type="subTitle"/>
          </p:nvPr>
        </p:nvSpPr>
        <p:spPr>
          <a:xfrm>
            <a:off x="1225675" y="1331675"/>
            <a:ext cx="3218700" cy="411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5" name="Google Shape;185;p20"/>
          <p:cNvSpPr txBox="1"/>
          <p:nvPr>
            <p:ph idx="6" type="subTitle"/>
          </p:nvPr>
        </p:nvSpPr>
        <p:spPr>
          <a:xfrm>
            <a:off x="1225675" y="2992275"/>
            <a:ext cx="3218700" cy="411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6" name="Google Shape;186;p20"/>
          <p:cNvSpPr txBox="1"/>
          <p:nvPr>
            <p:ph idx="7" type="subTitle"/>
          </p:nvPr>
        </p:nvSpPr>
        <p:spPr>
          <a:xfrm>
            <a:off x="5052099" y="1331675"/>
            <a:ext cx="3218700" cy="411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7" name="Google Shape;187;p20"/>
          <p:cNvSpPr txBox="1"/>
          <p:nvPr>
            <p:ph idx="8" type="subTitle"/>
          </p:nvPr>
        </p:nvSpPr>
        <p:spPr>
          <a:xfrm>
            <a:off x="5052099" y="2992275"/>
            <a:ext cx="3218700" cy="411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88" name="Shape 188"/>
        <p:cNvGrpSpPr/>
        <p:nvPr/>
      </p:nvGrpSpPr>
      <p:grpSpPr>
        <a:xfrm>
          <a:off x="0" y="0"/>
          <a:ext cx="0" cy="0"/>
          <a:chOff x="0" y="0"/>
          <a:chExt cx="0" cy="0"/>
        </a:xfrm>
      </p:grpSpPr>
      <p:grpSp>
        <p:nvGrpSpPr>
          <p:cNvPr id="189" name="Google Shape;189;p21"/>
          <p:cNvGrpSpPr/>
          <p:nvPr/>
        </p:nvGrpSpPr>
        <p:grpSpPr>
          <a:xfrm>
            <a:off x="0" y="0"/>
            <a:ext cx="9144001" cy="5143500"/>
            <a:chOff x="0" y="0"/>
            <a:chExt cx="9144001" cy="5143500"/>
          </a:xfrm>
        </p:grpSpPr>
        <p:pic>
          <p:nvPicPr>
            <p:cNvPr id="190" name="Google Shape;190;p21"/>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191" name="Google Shape;191;p21"/>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192" name="Google Shape;192;p21"/>
          <p:cNvGrpSpPr/>
          <p:nvPr/>
        </p:nvGrpSpPr>
        <p:grpSpPr>
          <a:xfrm rot="10800000">
            <a:off x="6704226" y="3811697"/>
            <a:ext cx="4574075" cy="3479350"/>
            <a:chOff x="1522650" y="1117750"/>
            <a:chExt cx="4574075" cy="3479350"/>
          </a:xfrm>
        </p:grpSpPr>
        <p:sp>
          <p:nvSpPr>
            <p:cNvPr id="193" name="Google Shape;193;p2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 name="Google Shape;195;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6" name="Google Shape;196;p21"/>
          <p:cNvSpPr txBox="1"/>
          <p:nvPr>
            <p:ph idx="1" type="subTitle"/>
          </p:nvPr>
        </p:nvSpPr>
        <p:spPr>
          <a:xfrm>
            <a:off x="1162025" y="1656927"/>
            <a:ext cx="1975200" cy="118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7" name="Google Shape;197;p21"/>
          <p:cNvSpPr txBox="1"/>
          <p:nvPr>
            <p:ph idx="2" type="subTitle"/>
          </p:nvPr>
        </p:nvSpPr>
        <p:spPr>
          <a:xfrm>
            <a:off x="3782975" y="1656925"/>
            <a:ext cx="1972200" cy="118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8" name="Google Shape;198;p21"/>
          <p:cNvSpPr txBox="1"/>
          <p:nvPr>
            <p:ph idx="3" type="subTitle"/>
          </p:nvPr>
        </p:nvSpPr>
        <p:spPr>
          <a:xfrm>
            <a:off x="1162025" y="3387221"/>
            <a:ext cx="1975200" cy="118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9" name="Google Shape;199;p21"/>
          <p:cNvSpPr txBox="1"/>
          <p:nvPr>
            <p:ph idx="4" type="subTitle"/>
          </p:nvPr>
        </p:nvSpPr>
        <p:spPr>
          <a:xfrm>
            <a:off x="3782975" y="3387221"/>
            <a:ext cx="1975200" cy="118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0" name="Google Shape;200;p21"/>
          <p:cNvSpPr txBox="1"/>
          <p:nvPr>
            <p:ph idx="5" type="subTitle"/>
          </p:nvPr>
        </p:nvSpPr>
        <p:spPr>
          <a:xfrm>
            <a:off x="6403925" y="1656927"/>
            <a:ext cx="1975200" cy="118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1" name="Google Shape;201;p21"/>
          <p:cNvSpPr txBox="1"/>
          <p:nvPr>
            <p:ph idx="6" type="subTitle"/>
          </p:nvPr>
        </p:nvSpPr>
        <p:spPr>
          <a:xfrm>
            <a:off x="6403925" y="3387221"/>
            <a:ext cx="1975200" cy="118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2" name="Google Shape;202;p21"/>
          <p:cNvSpPr txBox="1"/>
          <p:nvPr>
            <p:ph idx="7" type="subTitle"/>
          </p:nvPr>
        </p:nvSpPr>
        <p:spPr>
          <a:xfrm>
            <a:off x="1162025" y="1359241"/>
            <a:ext cx="1975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3" name="Google Shape;203;p21"/>
          <p:cNvSpPr txBox="1"/>
          <p:nvPr>
            <p:ph idx="8" type="subTitle"/>
          </p:nvPr>
        </p:nvSpPr>
        <p:spPr>
          <a:xfrm>
            <a:off x="3782975" y="1359241"/>
            <a:ext cx="1972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4" name="Google Shape;204;p21"/>
          <p:cNvSpPr txBox="1"/>
          <p:nvPr>
            <p:ph idx="9" type="subTitle"/>
          </p:nvPr>
        </p:nvSpPr>
        <p:spPr>
          <a:xfrm>
            <a:off x="6403925" y="1359241"/>
            <a:ext cx="19728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5" name="Google Shape;205;p21"/>
          <p:cNvSpPr txBox="1"/>
          <p:nvPr>
            <p:ph idx="13" type="subTitle"/>
          </p:nvPr>
        </p:nvSpPr>
        <p:spPr>
          <a:xfrm>
            <a:off x="1162025" y="3086317"/>
            <a:ext cx="1975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6" name="Google Shape;206;p21"/>
          <p:cNvSpPr txBox="1"/>
          <p:nvPr>
            <p:ph idx="14" type="subTitle"/>
          </p:nvPr>
        </p:nvSpPr>
        <p:spPr>
          <a:xfrm>
            <a:off x="3782975" y="3086317"/>
            <a:ext cx="1972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7" name="Google Shape;207;p21"/>
          <p:cNvSpPr txBox="1"/>
          <p:nvPr>
            <p:ph idx="15" type="subTitle"/>
          </p:nvPr>
        </p:nvSpPr>
        <p:spPr>
          <a:xfrm>
            <a:off x="6403925" y="3086317"/>
            <a:ext cx="19728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08" name="Shape 208"/>
        <p:cNvGrpSpPr/>
        <p:nvPr/>
      </p:nvGrpSpPr>
      <p:grpSpPr>
        <a:xfrm>
          <a:off x="0" y="0"/>
          <a:ext cx="0" cy="0"/>
          <a:chOff x="0" y="0"/>
          <a:chExt cx="0" cy="0"/>
        </a:xfrm>
      </p:grpSpPr>
      <p:sp>
        <p:nvSpPr>
          <p:cNvPr id="209" name="Google Shape;209;p22"/>
          <p:cNvSpPr txBox="1"/>
          <p:nvPr>
            <p:ph hasCustomPrompt="1" type="title"/>
          </p:nvPr>
        </p:nvSpPr>
        <p:spPr>
          <a:xfrm>
            <a:off x="1200575" y="2266166"/>
            <a:ext cx="2739300" cy="6675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1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0" name="Google Shape;210;p22"/>
          <p:cNvSpPr txBox="1"/>
          <p:nvPr>
            <p:ph idx="1" type="subTitle"/>
          </p:nvPr>
        </p:nvSpPr>
        <p:spPr>
          <a:xfrm>
            <a:off x="1200575" y="2948884"/>
            <a:ext cx="2739300" cy="36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sz="16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11" name="Google Shape;211;p22"/>
          <p:cNvSpPr txBox="1"/>
          <p:nvPr>
            <p:ph hasCustomPrompt="1" idx="2" type="title"/>
          </p:nvPr>
        </p:nvSpPr>
        <p:spPr>
          <a:xfrm>
            <a:off x="1200575" y="977950"/>
            <a:ext cx="2739300" cy="6663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1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2" name="Google Shape;212;p22"/>
          <p:cNvSpPr txBox="1"/>
          <p:nvPr>
            <p:ph idx="3" type="subTitle"/>
          </p:nvPr>
        </p:nvSpPr>
        <p:spPr>
          <a:xfrm>
            <a:off x="1200575" y="1669422"/>
            <a:ext cx="2739300" cy="36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sz="16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13" name="Google Shape;213;p22"/>
          <p:cNvSpPr txBox="1"/>
          <p:nvPr>
            <p:ph hasCustomPrompt="1" idx="4" type="title"/>
          </p:nvPr>
        </p:nvSpPr>
        <p:spPr>
          <a:xfrm>
            <a:off x="1200575" y="3555582"/>
            <a:ext cx="2739300" cy="6675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1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4" name="Google Shape;214;p22"/>
          <p:cNvSpPr txBox="1"/>
          <p:nvPr>
            <p:ph idx="5" type="subTitle"/>
          </p:nvPr>
        </p:nvSpPr>
        <p:spPr>
          <a:xfrm>
            <a:off x="1200575" y="4238300"/>
            <a:ext cx="2739300" cy="36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sz="16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pic>
        <p:nvPicPr>
          <p:cNvPr id="215" name="Google Shape;215;p22"/>
          <p:cNvPicPr preferRelativeResize="0"/>
          <p:nvPr/>
        </p:nvPicPr>
        <p:blipFill>
          <a:blip r:embed="rId2">
            <a:alphaModFix/>
          </a:blip>
          <a:stretch>
            <a:fillRect/>
          </a:stretch>
        </p:blipFill>
        <p:spPr>
          <a:xfrm flipH="1" rot="10800000">
            <a:off x="0" y="0"/>
            <a:ext cx="4727801" cy="2256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16" name="Shape 216"/>
        <p:cNvGrpSpPr/>
        <p:nvPr/>
      </p:nvGrpSpPr>
      <p:grpSpPr>
        <a:xfrm>
          <a:off x="0" y="0"/>
          <a:ext cx="0" cy="0"/>
          <a:chOff x="0" y="0"/>
          <a:chExt cx="0" cy="0"/>
        </a:xfrm>
      </p:grpSpPr>
      <p:sp>
        <p:nvSpPr>
          <p:cNvPr id="217" name="Google Shape;217;p23"/>
          <p:cNvSpPr txBox="1"/>
          <p:nvPr>
            <p:ph type="title"/>
          </p:nvPr>
        </p:nvSpPr>
        <p:spPr>
          <a:xfrm>
            <a:off x="713225" y="747263"/>
            <a:ext cx="3281700" cy="953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23"/>
          <p:cNvSpPr txBox="1"/>
          <p:nvPr>
            <p:ph idx="1" type="subTitle"/>
          </p:nvPr>
        </p:nvSpPr>
        <p:spPr>
          <a:xfrm>
            <a:off x="713225" y="1584449"/>
            <a:ext cx="3281700" cy="89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pic>
        <p:nvPicPr>
          <p:cNvPr id="219" name="Google Shape;219;p23"/>
          <p:cNvPicPr preferRelativeResize="0"/>
          <p:nvPr/>
        </p:nvPicPr>
        <p:blipFill>
          <a:blip r:embed="rId2">
            <a:alphaModFix/>
          </a:blip>
          <a:stretch>
            <a:fillRect/>
          </a:stretch>
        </p:blipFill>
        <p:spPr>
          <a:xfrm flipH="1" rot="10800000">
            <a:off x="0" y="0"/>
            <a:ext cx="4727801" cy="2256875"/>
          </a:xfrm>
          <a:prstGeom prst="rect">
            <a:avLst/>
          </a:prstGeom>
          <a:noFill/>
          <a:ln>
            <a:noFill/>
          </a:ln>
        </p:spPr>
      </p:pic>
      <p:sp>
        <p:nvSpPr>
          <p:cNvPr id="220" name="Google Shape;220;p23"/>
          <p:cNvSpPr txBox="1"/>
          <p:nvPr/>
        </p:nvSpPr>
        <p:spPr>
          <a:xfrm>
            <a:off x="713225" y="3410538"/>
            <a:ext cx="3278700" cy="7254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Cairo"/>
                <a:ea typeface="Cairo"/>
                <a:cs typeface="Cairo"/>
                <a:sym typeface="Cairo"/>
              </a:rPr>
              <a:t>CREDITS:</a:t>
            </a:r>
            <a:r>
              <a:rPr lang="en" sz="1000">
                <a:solidFill>
                  <a:schemeClr val="dk1"/>
                </a:solidFill>
                <a:latin typeface="Cairo"/>
                <a:ea typeface="Cairo"/>
                <a:cs typeface="Cairo"/>
                <a:sym typeface="Cairo"/>
              </a:rPr>
              <a:t> This presentation template was created by </a:t>
            </a:r>
            <a:r>
              <a:rPr b="1" lang="en" sz="1000" u="sng">
                <a:solidFill>
                  <a:schemeClr val="dk1"/>
                </a:solidFill>
                <a:latin typeface="Cairo"/>
                <a:ea typeface="Cairo"/>
                <a:cs typeface="Cairo"/>
                <a:sym typeface="Cairo"/>
                <a:hlinkClick r:id="rId3">
                  <a:extLst>
                    <a:ext uri="{A12FA001-AC4F-418D-AE19-62706E023703}">
                      <ahyp:hlinkClr val="tx"/>
                    </a:ext>
                  </a:extLst>
                </a:hlinkClick>
              </a:rPr>
              <a:t>Slidesgo</a:t>
            </a:r>
            <a:r>
              <a:rPr lang="en" sz="1000">
                <a:solidFill>
                  <a:schemeClr val="dk1"/>
                </a:solidFill>
                <a:latin typeface="Cairo"/>
                <a:ea typeface="Cairo"/>
                <a:cs typeface="Cairo"/>
                <a:sym typeface="Cairo"/>
              </a:rPr>
              <a:t>, and includes icons by </a:t>
            </a:r>
            <a:r>
              <a:rPr b="1" lang="en" sz="1000" u="sng">
                <a:solidFill>
                  <a:schemeClr val="dk1"/>
                </a:solidFill>
                <a:latin typeface="Cairo"/>
                <a:ea typeface="Cairo"/>
                <a:cs typeface="Cairo"/>
                <a:sym typeface="Cairo"/>
                <a:hlinkClick r:id="rId4">
                  <a:extLst>
                    <a:ext uri="{A12FA001-AC4F-418D-AE19-62706E023703}">
                      <ahyp:hlinkClr val="tx"/>
                    </a:ext>
                  </a:extLst>
                </a:hlinkClick>
              </a:rPr>
              <a:t>Flaticon</a:t>
            </a:r>
            <a:r>
              <a:rPr lang="en" sz="1000">
                <a:solidFill>
                  <a:schemeClr val="dk1"/>
                </a:solidFill>
                <a:latin typeface="Cairo"/>
                <a:ea typeface="Cairo"/>
                <a:cs typeface="Cairo"/>
                <a:sym typeface="Cairo"/>
              </a:rPr>
              <a:t>, and infographics &amp; images by </a:t>
            </a:r>
            <a:r>
              <a:rPr b="1" lang="en" sz="1000" u="sng">
                <a:solidFill>
                  <a:schemeClr val="dk1"/>
                </a:solidFill>
                <a:latin typeface="Cairo"/>
                <a:ea typeface="Cairo"/>
                <a:cs typeface="Cairo"/>
                <a:sym typeface="Cairo"/>
                <a:hlinkClick r:id="rId5">
                  <a:extLst>
                    <a:ext uri="{A12FA001-AC4F-418D-AE19-62706E023703}">
                      <ahyp:hlinkClr val="tx"/>
                    </a:ext>
                  </a:extLst>
                </a:hlinkClick>
              </a:rPr>
              <a:t>Freepik</a:t>
            </a:r>
            <a:r>
              <a:rPr b="1" lang="en" sz="1000" u="sng">
                <a:solidFill>
                  <a:schemeClr val="dk1"/>
                </a:solidFill>
                <a:latin typeface="Cairo"/>
                <a:ea typeface="Cairo"/>
                <a:cs typeface="Cairo"/>
                <a:sym typeface="Cairo"/>
              </a:rPr>
              <a:t> </a:t>
            </a:r>
            <a:endParaRPr b="1" sz="1000" u="sng">
              <a:solidFill>
                <a:schemeClr val="dk1"/>
              </a:solidFill>
              <a:latin typeface="Cairo"/>
              <a:ea typeface="Cairo"/>
              <a:cs typeface="Cairo"/>
              <a:sym typeface="Cair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1" name="Shape 221"/>
        <p:cNvGrpSpPr/>
        <p:nvPr/>
      </p:nvGrpSpPr>
      <p:grpSpPr>
        <a:xfrm>
          <a:off x="0" y="0"/>
          <a:ext cx="0" cy="0"/>
          <a:chOff x="0" y="0"/>
          <a:chExt cx="0" cy="0"/>
        </a:xfrm>
      </p:grpSpPr>
      <p:grpSp>
        <p:nvGrpSpPr>
          <p:cNvPr id="222" name="Google Shape;222;p24"/>
          <p:cNvGrpSpPr/>
          <p:nvPr/>
        </p:nvGrpSpPr>
        <p:grpSpPr>
          <a:xfrm>
            <a:off x="0" y="0"/>
            <a:ext cx="9144001" cy="5143500"/>
            <a:chOff x="0" y="0"/>
            <a:chExt cx="9144001" cy="5143500"/>
          </a:xfrm>
        </p:grpSpPr>
        <p:pic>
          <p:nvPicPr>
            <p:cNvPr id="223" name="Google Shape;223;p24"/>
            <p:cNvPicPr preferRelativeResize="0"/>
            <p:nvPr/>
          </p:nvPicPr>
          <p:blipFill>
            <a:blip r:embed="rId2">
              <a:alphaModFix/>
            </a:blip>
            <a:stretch>
              <a:fillRect/>
            </a:stretch>
          </p:blipFill>
          <p:spPr>
            <a:xfrm flipH="1" rot="10800000">
              <a:off x="0" y="0"/>
              <a:ext cx="4727801" cy="2256875"/>
            </a:xfrm>
            <a:prstGeom prst="rect">
              <a:avLst/>
            </a:prstGeom>
            <a:noFill/>
            <a:ln>
              <a:noFill/>
            </a:ln>
          </p:spPr>
        </p:pic>
        <p:pic>
          <p:nvPicPr>
            <p:cNvPr id="224" name="Google Shape;224;p24"/>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grpSp>
      <p:grpSp>
        <p:nvGrpSpPr>
          <p:cNvPr id="225" name="Google Shape;225;p24"/>
          <p:cNvGrpSpPr/>
          <p:nvPr/>
        </p:nvGrpSpPr>
        <p:grpSpPr>
          <a:xfrm rot="756538">
            <a:off x="-1069833" y="-1842572"/>
            <a:ext cx="4574157" cy="3479412"/>
            <a:chOff x="1522650" y="1117750"/>
            <a:chExt cx="4574075" cy="3479350"/>
          </a:xfrm>
        </p:grpSpPr>
        <p:sp>
          <p:nvSpPr>
            <p:cNvPr id="226" name="Google Shape;226;p2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28" name="Shape 228"/>
        <p:cNvGrpSpPr/>
        <p:nvPr/>
      </p:nvGrpSpPr>
      <p:grpSpPr>
        <a:xfrm>
          <a:off x="0" y="0"/>
          <a:ext cx="0" cy="0"/>
          <a:chOff x="0" y="0"/>
          <a:chExt cx="0" cy="0"/>
        </a:xfrm>
      </p:grpSpPr>
      <p:grpSp>
        <p:nvGrpSpPr>
          <p:cNvPr id="229" name="Google Shape;229;p25"/>
          <p:cNvGrpSpPr/>
          <p:nvPr/>
        </p:nvGrpSpPr>
        <p:grpSpPr>
          <a:xfrm>
            <a:off x="0" y="0"/>
            <a:ext cx="9144001" cy="5143500"/>
            <a:chOff x="0" y="0"/>
            <a:chExt cx="9144001" cy="5143500"/>
          </a:xfrm>
        </p:grpSpPr>
        <p:pic>
          <p:nvPicPr>
            <p:cNvPr id="230" name="Google Shape;230;p25"/>
            <p:cNvPicPr preferRelativeResize="0"/>
            <p:nvPr/>
          </p:nvPicPr>
          <p:blipFill>
            <a:blip r:embed="rId2">
              <a:alphaModFix/>
            </a:blip>
            <a:stretch>
              <a:fillRect/>
            </a:stretch>
          </p:blipFill>
          <p:spPr>
            <a:xfrm flipH="1" rot="10800000">
              <a:off x="0" y="2052950"/>
              <a:ext cx="4220500" cy="3090550"/>
            </a:xfrm>
            <a:prstGeom prst="rect">
              <a:avLst/>
            </a:prstGeom>
            <a:noFill/>
            <a:ln>
              <a:noFill/>
            </a:ln>
          </p:spPr>
        </p:pic>
        <p:pic>
          <p:nvPicPr>
            <p:cNvPr id="231" name="Google Shape;231;p25"/>
            <p:cNvPicPr preferRelativeResize="0"/>
            <p:nvPr/>
          </p:nvPicPr>
          <p:blipFill>
            <a:blip r:embed="rId3">
              <a:alphaModFix/>
            </a:blip>
            <a:stretch>
              <a:fillRect/>
            </a:stretch>
          </p:blipFill>
          <p:spPr>
            <a:xfrm flipH="1" rot="10800000">
              <a:off x="6764924" y="0"/>
              <a:ext cx="2379077" cy="3237334"/>
            </a:xfrm>
            <a:prstGeom prst="rect">
              <a:avLst/>
            </a:prstGeom>
            <a:noFill/>
            <a:ln>
              <a:noFill/>
            </a:ln>
          </p:spPr>
        </p:pic>
      </p:grpSp>
      <p:grpSp>
        <p:nvGrpSpPr>
          <p:cNvPr id="232" name="Google Shape;232;p25"/>
          <p:cNvGrpSpPr/>
          <p:nvPr/>
        </p:nvGrpSpPr>
        <p:grpSpPr>
          <a:xfrm>
            <a:off x="-1845124" y="-2180828"/>
            <a:ext cx="12652562" cy="9877041"/>
            <a:chOff x="-1845124" y="-2180828"/>
            <a:chExt cx="12652562" cy="9877041"/>
          </a:xfrm>
        </p:grpSpPr>
        <p:grpSp>
          <p:nvGrpSpPr>
            <p:cNvPr id="233" name="Google Shape;233;p25"/>
            <p:cNvGrpSpPr/>
            <p:nvPr/>
          </p:nvGrpSpPr>
          <p:grpSpPr>
            <a:xfrm>
              <a:off x="-1845124" y="-2180828"/>
              <a:ext cx="4574075" cy="3479350"/>
              <a:chOff x="1522650" y="1117750"/>
              <a:chExt cx="4574075" cy="3479350"/>
            </a:xfrm>
          </p:grpSpPr>
          <p:sp>
            <p:nvSpPr>
              <p:cNvPr id="234" name="Google Shape;234;p2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 name="Google Shape;236;p25"/>
            <p:cNvGrpSpPr/>
            <p:nvPr/>
          </p:nvGrpSpPr>
          <p:grpSpPr>
            <a:xfrm flipH="1" rot="-10539848">
              <a:off x="6108563" y="4049075"/>
              <a:ext cx="4573901" cy="3479217"/>
              <a:chOff x="1522650" y="1117750"/>
              <a:chExt cx="4574075" cy="3479350"/>
            </a:xfrm>
          </p:grpSpPr>
          <p:sp>
            <p:nvSpPr>
              <p:cNvPr id="237" name="Google Shape;237;p2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2pPr>
            <a:lvl3pPr lvl="2" rtl="0">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3pPr>
            <a:lvl4pPr lvl="3" rtl="0">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4pPr>
            <a:lvl5pPr lvl="4" rtl="0">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5pPr>
            <a:lvl6pPr lvl="5" rtl="0">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6pPr>
            <a:lvl7pPr lvl="6" rtl="0">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7pPr>
            <a:lvl8pPr lvl="7" rtl="0">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8pPr>
            <a:lvl9pPr lvl="8" rtl="0">
              <a:spcBef>
                <a:spcPts val="0"/>
              </a:spcBef>
              <a:spcAft>
                <a:spcPts val="0"/>
              </a:spcAft>
              <a:buClr>
                <a:schemeClr val="dk1"/>
              </a:buClr>
              <a:buSzPts val="3000"/>
              <a:buFont typeface="Space Grotesk"/>
              <a:buNone/>
              <a:defRPr b="1" sz="3000">
                <a:solidFill>
                  <a:schemeClr val="dk1"/>
                </a:solidFill>
                <a:latin typeface="Space Grotesk"/>
                <a:ea typeface="Space Grotesk"/>
                <a:cs typeface="Space Grotesk"/>
                <a:sym typeface="Space Grotesk"/>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indent="-304800" lvl="1" marL="9144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indent="-304800" lvl="2" marL="13716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indent="-304800" lvl="3" marL="1828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indent="-304800" lvl="4" marL="22860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indent="-304800" lvl="5" marL="27432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indent="-304800" lvl="6" marL="32004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indent="-304800" lvl="7" marL="36576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indent="-304800" lvl="8" marL="411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www.youtube.com/watch?v=sg_fuEzFw0g" TargetMode="External"/><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hyperlink" Target="https://notebooklm.google.com/notebook/18fac467-44d1-4210-97b8-10fccc54bdef" TargetMode="External"/><Relationship Id="rId5" Type="http://schemas.openxmlformats.org/officeDocument/2006/relationships/hyperlink" Target="https://en.wikipedia.org/wiki/George_Washington"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23.png"/><Relationship Id="rId9" Type="http://schemas.openxmlformats.org/officeDocument/2006/relationships/hyperlink" Target="mailto:cachavez@wm.edu" TargetMode="External"/><Relationship Id="rId5" Type="http://schemas.openxmlformats.org/officeDocument/2006/relationships/hyperlink" Target="mailto:bill.skimmyhorn@mason.wm.edu" TargetMode="External"/><Relationship Id="rId6" Type="http://schemas.openxmlformats.org/officeDocument/2006/relationships/hyperlink" Target="mailto:jvasquez01@wm.edu" TargetMode="External"/><Relationship Id="rId7" Type="http://schemas.openxmlformats.org/officeDocument/2006/relationships/hyperlink" Target="mailto:ircalicchio@wm.edu" TargetMode="External"/><Relationship Id="rId8" Type="http://schemas.openxmlformats.org/officeDocument/2006/relationships/hyperlink" Target="mailto:ahassaan@wm.edu"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www.anthropic.com/news/claude-3-family" TargetMode="External"/><Relationship Id="rId4" Type="http://schemas.openxmlformats.org/officeDocument/2006/relationships/hyperlink" Target="https://www.cloudflare.com/learning/ai/what-is-large-language-model/" TargetMode="External"/><Relationship Id="rId9" Type="http://schemas.openxmlformats.org/officeDocument/2006/relationships/hyperlink" Target="https://openai.com/education/" TargetMode="External"/><Relationship Id="rId5" Type="http://schemas.openxmlformats.org/officeDocument/2006/relationships/hyperlink" Target="https://www.deepseek.com/" TargetMode="External"/><Relationship Id="rId6" Type="http://schemas.openxmlformats.org/officeDocument/2006/relationships/hyperlink" Target="https://blog.google/technology/ai/google-gemini-next-generation-model-february-2024/" TargetMode="External"/><Relationship Id="rId7" Type="http://schemas.openxmlformats.org/officeDocument/2006/relationships/hyperlink" Target="https://notebooklm.google/" TargetMode="External"/><Relationship Id="rId8" Type="http://schemas.openxmlformats.org/officeDocument/2006/relationships/hyperlink" Target="https://www.microsoft.com/en-us/microsoft-copilot" TargetMode="External"/><Relationship Id="rId11" Type="http://schemas.openxmlformats.org/officeDocument/2006/relationships/hyperlink" Target="https://openai.com/index/why-language-models-hallucinate/" TargetMode="External"/><Relationship Id="rId10" Type="http://schemas.openxmlformats.org/officeDocument/2006/relationships/hyperlink" Target="https://openai.com/index/why-language-models-hallucinate/" TargetMode="External"/><Relationship Id="rId12" Type="http://schemas.openxmlformats.org/officeDocument/2006/relationships/hyperlink" Target="https://www.perplexity.ai/hub/blog/perplexity-page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x.ai/blog/grok-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grpSp>
        <p:nvGrpSpPr>
          <p:cNvPr id="243" name="Google Shape;243;p26"/>
          <p:cNvGrpSpPr/>
          <p:nvPr/>
        </p:nvGrpSpPr>
        <p:grpSpPr>
          <a:xfrm rot="756538">
            <a:off x="-943408" y="-1494947"/>
            <a:ext cx="4574157" cy="3479412"/>
            <a:chOff x="1522650" y="1117750"/>
            <a:chExt cx="4574075" cy="3479350"/>
          </a:xfrm>
        </p:grpSpPr>
        <p:sp>
          <p:nvSpPr>
            <p:cNvPr id="244" name="Google Shape;244;p2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46" name="Google Shape;246;p26"/>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
        <p:nvSpPr>
          <p:cNvPr id="247" name="Google Shape;247;p26"/>
          <p:cNvSpPr txBox="1"/>
          <p:nvPr>
            <p:ph type="ctrTitle"/>
          </p:nvPr>
        </p:nvSpPr>
        <p:spPr>
          <a:xfrm>
            <a:off x="713225" y="2205375"/>
            <a:ext cx="5257800" cy="1614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solidFill>
                  <a:schemeClr val="dk1"/>
                </a:solidFill>
              </a:rPr>
              <a:t>Module 1: An Introduction to Artificial Intelligence</a:t>
            </a:r>
            <a:endParaRPr sz="4000">
              <a:solidFill>
                <a:schemeClr val="dk1"/>
              </a:solidFill>
            </a:endParaRPr>
          </a:p>
        </p:txBody>
      </p:sp>
      <p:sp>
        <p:nvSpPr>
          <p:cNvPr id="248" name="Google Shape;248;p26"/>
          <p:cNvSpPr txBox="1"/>
          <p:nvPr>
            <p:ph idx="1" type="subTitle"/>
          </p:nvPr>
        </p:nvSpPr>
        <p:spPr>
          <a:xfrm>
            <a:off x="713225" y="3885650"/>
            <a:ext cx="3690600" cy="4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Proficiency Course</a:t>
            </a:r>
            <a:endParaRPr/>
          </a:p>
        </p:txBody>
      </p:sp>
      <p:sp>
        <p:nvSpPr>
          <p:cNvPr id="249" name="Google Shape;249;p26"/>
          <p:cNvSpPr txBox="1"/>
          <p:nvPr>
            <p:ph type="ctrTitle"/>
          </p:nvPr>
        </p:nvSpPr>
        <p:spPr>
          <a:xfrm>
            <a:off x="1748250" y="402350"/>
            <a:ext cx="5257800" cy="1614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b="1" sz="3500">
              <a:solidFill>
                <a:schemeClr val="dk1"/>
              </a:solidFill>
              <a:highlight>
                <a:srgbClr val="FFFF00"/>
              </a:highlight>
            </a:endParaRPr>
          </a:p>
          <a:p>
            <a:pPr indent="0" lvl="0" marL="0" rtl="0" algn="l">
              <a:spcBef>
                <a:spcPts val="0"/>
              </a:spcBef>
              <a:spcAft>
                <a:spcPts val="0"/>
              </a:spcAft>
              <a:buNone/>
            </a:pPr>
            <a:r>
              <a:t/>
            </a:r>
            <a:endParaRPr b="1" sz="3500">
              <a:solidFill>
                <a:schemeClr val="dk1"/>
              </a:solidFill>
              <a:highlight>
                <a:srgbClr val="FFFF0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able of contents</a:t>
            </a:r>
            <a:endParaRPr/>
          </a:p>
        </p:txBody>
      </p:sp>
      <p:sp>
        <p:nvSpPr>
          <p:cNvPr id="255" name="Google Shape;255;p27"/>
          <p:cNvSpPr txBox="1"/>
          <p:nvPr/>
        </p:nvSpPr>
        <p:spPr>
          <a:xfrm>
            <a:off x="820600" y="1138733"/>
            <a:ext cx="734700" cy="447600"/>
          </a:xfrm>
          <a:prstGeom prst="rect">
            <a:avLst/>
          </a:prstGeom>
          <a:solidFill>
            <a:srgbClr val="E2E4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rgbClr val="241160"/>
                </a:solidFill>
                <a:latin typeface="Space Grotesk"/>
                <a:ea typeface="Space Grotesk"/>
                <a:cs typeface="Space Grotesk"/>
                <a:sym typeface="Space Grotesk"/>
              </a:rPr>
              <a:t>01</a:t>
            </a:r>
            <a:endParaRPr sz="3000">
              <a:solidFill>
                <a:srgbClr val="241160"/>
              </a:solidFill>
              <a:latin typeface="Space Grotesk"/>
              <a:ea typeface="Space Grotesk"/>
              <a:cs typeface="Space Grotesk"/>
              <a:sym typeface="Space Grotesk"/>
            </a:endParaRPr>
          </a:p>
        </p:txBody>
      </p:sp>
      <p:sp>
        <p:nvSpPr>
          <p:cNvPr id="256" name="Google Shape;256;p27"/>
          <p:cNvSpPr txBox="1"/>
          <p:nvPr/>
        </p:nvSpPr>
        <p:spPr>
          <a:xfrm>
            <a:off x="820600" y="3360291"/>
            <a:ext cx="734700" cy="447600"/>
          </a:xfrm>
          <a:prstGeom prst="rect">
            <a:avLst/>
          </a:prstGeom>
          <a:solidFill>
            <a:srgbClr val="E2E4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rgbClr val="241160"/>
                </a:solidFill>
                <a:latin typeface="Space Grotesk"/>
                <a:ea typeface="Space Grotesk"/>
                <a:cs typeface="Space Grotesk"/>
                <a:sym typeface="Space Grotesk"/>
              </a:rPr>
              <a:t>04</a:t>
            </a:r>
            <a:endParaRPr sz="3000">
              <a:solidFill>
                <a:srgbClr val="241160"/>
              </a:solidFill>
              <a:latin typeface="Space Grotesk"/>
              <a:ea typeface="Space Grotesk"/>
              <a:cs typeface="Space Grotesk"/>
              <a:sym typeface="Space Grotesk"/>
            </a:endParaRPr>
          </a:p>
        </p:txBody>
      </p:sp>
      <p:sp>
        <p:nvSpPr>
          <p:cNvPr id="257" name="Google Shape;257;p27"/>
          <p:cNvSpPr txBox="1"/>
          <p:nvPr/>
        </p:nvSpPr>
        <p:spPr>
          <a:xfrm>
            <a:off x="820600" y="1854683"/>
            <a:ext cx="734700" cy="447600"/>
          </a:xfrm>
          <a:prstGeom prst="rect">
            <a:avLst/>
          </a:prstGeom>
          <a:solidFill>
            <a:srgbClr val="E2E4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rgbClr val="241160"/>
                </a:solidFill>
                <a:latin typeface="Space Grotesk"/>
                <a:ea typeface="Space Grotesk"/>
                <a:cs typeface="Space Grotesk"/>
                <a:sym typeface="Space Grotesk"/>
              </a:rPr>
              <a:t>02</a:t>
            </a:r>
            <a:endParaRPr sz="3000">
              <a:solidFill>
                <a:srgbClr val="241160"/>
              </a:solidFill>
              <a:latin typeface="Space Grotesk"/>
              <a:ea typeface="Space Grotesk"/>
              <a:cs typeface="Space Grotesk"/>
              <a:sym typeface="Space Grotesk"/>
            </a:endParaRPr>
          </a:p>
        </p:txBody>
      </p:sp>
      <p:sp>
        <p:nvSpPr>
          <p:cNvPr id="258" name="Google Shape;258;p27"/>
          <p:cNvSpPr txBox="1"/>
          <p:nvPr/>
        </p:nvSpPr>
        <p:spPr>
          <a:xfrm>
            <a:off x="820600" y="2570633"/>
            <a:ext cx="734700" cy="447600"/>
          </a:xfrm>
          <a:prstGeom prst="rect">
            <a:avLst/>
          </a:prstGeom>
          <a:solidFill>
            <a:srgbClr val="E2E4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000">
                <a:solidFill>
                  <a:srgbClr val="241160"/>
                </a:solidFill>
                <a:latin typeface="Space Grotesk"/>
                <a:ea typeface="Space Grotesk"/>
                <a:cs typeface="Space Grotesk"/>
                <a:sym typeface="Space Grotesk"/>
              </a:rPr>
              <a:t>03</a:t>
            </a:r>
            <a:endParaRPr sz="3000">
              <a:solidFill>
                <a:srgbClr val="241160"/>
              </a:solidFill>
              <a:latin typeface="Space Grotesk"/>
              <a:ea typeface="Space Grotesk"/>
              <a:cs typeface="Space Grotesk"/>
              <a:sym typeface="Space Grotesk"/>
            </a:endParaRPr>
          </a:p>
        </p:txBody>
      </p:sp>
      <p:sp>
        <p:nvSpPr>
          <p:cNvPr id="259" name="Google Shape;259;p27"/>
          <p:cNvSpPr txBox="1"/>
          <p:nvPr/>
        </p:nvSpPr>
        <p:spPr>
          <a:xfrm>
            <a:off x="1799650" y="1095050"/>
            <a:ext cx="25320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41160"/>
                </a:solidFill>
                <a:latin typeface="Space Grotesk Medium"/>
                <a:ea typeface="Space Grotesk Medium"/>
                <a:cs typeface="Space Grotesk Medium"/>
                <a:sym typeface="Space Grotesk Medium"/>
              </a:rPr>
              <a:t>Overview</a:t>
            </a:r>
            <a:endParaRPr sz="1800">
              <a:solidFill>
                <a:srgbClr val="241160"/>
              </a:solidFill>
              <a:latin typeface="Space Grotesk Medium"/>
              <a:ea typeface="Space Grotesk Medium"/>
              <a:cs typeface="Space Grotesk Medium"/>
              <a:sym typeface="Space Grotesk Medium"/>
            </a:endParaRPr>
          </a:p>
        </p:txBody>
      </p:sp>
      <p:sp>
        <p:nvSpPr>
          <p:cNvPr id="260" name="Google Shape;260;p27"/>
          <p:cNvSpPr txBox="1"/>
          <p:nvPr/>
        </p:nvSpPr>
        <p:spPr>
          <a:xfrm>
            <a:off x="1799650" y="1854664"/>
            <a:ext cx="4935300" cy="3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41160"/>
                </a:solidFill>
                <a:latin typeface="Space Grotesk Medium"/>
                <a:ea typeface="Space Grotesk Medium"/>
                <a:cs typeface="Space Grotesk Medium"/>
                <a:sym typeface="Space Grotesk Medium"/>
              </a:rPr>
              <a:t>Defining an LLM</a:t>
            </a:r>
            <a:endParaRPr sz="1800">
              <a:solidFill>
                <a:srgbClr val="241160"/>
              </a:solidFill>
              <a:latin typeface="Space Grotesk Medium"/>
              <a:ea typeface="Space Grotesk Medium"/>
              <a:cs typeface="Space Grotesk Medium"/>
              <a:sym typeface="Space Grotesk Medium"/>
            </a:endParaRPr>
          </a:p>
        </p:txBody>
      </p:sp>
      <p:sp>
        <p:nvSpPr>
          <p:cNvPr id="261" name="Google Shape;261;p27"/>
          <p:cNvSpPr txBox="1"/>
          <p:nvPr/>
        </p:nvSpPr>
        <p:spPr>
          <a:xfrm>
            <a:off x="1799650" y="2544675"/>
            <a:ext cx="25320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41160"/>
                </a:solidFill>
                <a:latin typeface="Space Grotesk Medium"/>
                <a:ea typeface="Space Grotesk Medium"/>
                <a:cs typeface="Space Grotesk Medium"/>
                <a:sym typeface="Space Grotesk Medium"/>
              </a:rPr>
              <a:t>History of the LLM</a:t>
            </a:r>
            <a:endParaRPr sz="1800">
              <a:solidFill>
                <a:srgbClr val="241160"/>
              </a:solidFill>
              <a:latin typeface="Space Grotesk Medium"/>
              <a:ea typeface="Space Grotesk Medium"/>
              <a:cs typeface="Space Grotesk Medium"/>
              <a:sym typeface="Space Grotesk Medium"/>
            </a:endParaRPr>
          </a:p>
        </p:txBody>
      </p:sp>
      <p:sp>
        <p:nvSpPr>
          <p:cNvPr id="262" name="Google Shape;262;p27"/>
          <p:cNvSpPr txBox="1"/>
          <p:nvPr/>
        </p:nvSpPr>
        <p:spPr>
          <a:xfrm>
            <a:off x="1799650" y="3334350"/>
            <a:ext cx="51165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41160"/>
                </a:solidFill>
                <a:latin typeface="Space Grotesk Medium"/>
                <a:ea typeface="Space Grotesk Medium"/>
                <a:cs typeface="Space Grotesk Medium"/>
                <a:sym typeface="Space Grotesk Medium"/>
              </a:rPr>
              <a:t>Common LLM’s and their features</a:t>
            </a:r>
            <a:endParaRPr sz="1800">
              <a:solidFill>
                <a:srgbClr val="241160"/>
              </a:solidFill>
              <a:latin typeface="Space Grotesk Medium"/>
              <a:ea typeface="Space Grotesk Medium"/>
              <a:cs typeface="Space Grotesk Medium"/>
              <a:sym typeface="Space Grotesk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28"/>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268" name="Google Shape;268;p28"/>
          <p:cNvSpPr txBox="1"/>
          <p:nvPr>
            <p:ph type="title"/>
          </p:nvPr>
        </p:nvSpPr>
        <p:spPr>
          <a:xfrm>
            <a:off x="4047175" y="2388500"/>
            <a:ext cx="4383600" cy="16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269" name="Google Shape;269;p28"/>
          <p:cNvSpPr txBox="1"/>
          <p:nvPr>
            <p:ph idx="2" type="title"/>
          </p:nvPr>
        </p:nvSpPr>
        <p:spPr>
          <a:xfrm>
            <a:off x="4047175" y="1438750"/>
            <a:ext cx="1230300" cy="88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grpSp>
        <p:nvGrpSpPr>
          <p:cNvPr id="270" name="Google Shape;270;p28"/>
          <p:cNvGrpSpPr/>
          <p:nvPr/>
        </p:nvGrpSpPr>
        <p:grpSpPr>
          <a:xfrm rot="756538">
            <a:off x="5159567" y="-1610422"/>
            <a:ext cx="4574157" cy="3479412"/>
            <a:chOff x="1522650" y="1117750"/>
            <a:chExt cx="4574075" cy="3479350"/>
          </a:xfrm>
        </p:grpSpPr>
        <p:sp>
          <p:nvSpPr>
            <p:cNvPr id="271" name="Google Shape;271;p2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Module 1 Overview</a:t>
            </a:r>
            <a:endParaRPr/>
          </a:p>
        </p:txBody>
      </p:sp>
      <p:sp>
        <p:nvSpPr>
          <p:cNvPr id="278" name="Google Shape;278;p29"/>
          <p:cNvSpPr txBox="1"/>
          <p:nvPr>
            <p:ph idx="2" type="subTitle"/>
          </p:nvPr>
        </p:nvSpPr>
        <p:spPr>
          <a:xfrm>
            <a:off x="1008750" y="1278600"/>
            <a:ext cx="7126500" cy="2056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In this module, you will become familiar with the features and history of artificial intelligence </a:t>
            </a:r>
            <a:endParaRPr/>
          </a:p>
          <a:p>
            <a:pPr indent="-304800" lvl="0" marL="457200" rtl="0" algn="l">
              <a:lnSpc>
                <a:spcPct val="150000"/>
              </a:lnSpc>
              <a:spcBef>
                <a:spcPts val="0"/>
              </a:spcBef>
              <a:spcAft>
                <a:spcPts val="0"/>
              </a:spcAft>
              <a:buSzPts val="1200"/>
              <a:buChar char="●"/>
            </a:pPr>
            <a:r>
              <a:rPr lang="en"/>
              <a:t>What is an LLM?</a:t>
            </a:r>
            <a:endParaRPr/>
          </a:p>
          <a:p>
            <a:pPr indent="-304800" lvl="0" marL="457200" rtl="0" algn="l">
              <a:lnSpc>
                <a:spcPct val="150000"/>
              </a:lnSpc>
              <a:spcBef>
                <a:spcPts val="0"/>
              </a:spcBef>
              <a:spcAft>
                <a:spcPts val="0"/>
              </a:spcAft>
              <a:buSzPts val="1200"/>
              <a:buChar char="●"/>
            </a:pPr>
            <a:r>
              <a:rPr lang="en"/>
              <a:t>History of LLM’s/AI</a:t>
            </a:r>
            <a:endParaRPr/>
          </a:p>
          <a:p>
            <a:pPr indent="-304800" lvl="0" marL="457200" rtl="0" algn="l">
              <a:lnSpc>
                <a:spcPct val="150000"/>
              </a:lnSpc>
              <a:spcBef>
                <a:spcPts val="0"/>
              </a:spcBef>
              <a:spcAft>
                <a:spcPts val="0"/>
              </a:spcAft>
              <a:buSzPts val="1200"/>
              <a:buChar char="●"/>
            </a:pPr>
            <a:r>
              <a:rPr lang="en"/>
              <a:t>Most commonly used LLM’s/AI and their features</a:t>
            </a:r>
            <a:endParaRPr/>
          </a:p>
          <a:p>
            <a:pPr indent="0" lvl="0" marL="457200" rtl="0" algn="l">
              <a:lnSpc>
                <a:spcPct val="150000"/>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30"/>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284" name="Google Shape;284;p30"/>
          <p:cNvSpPr txBox="1"/>
          <p:nvPr>
            <p:ph type="title"/>
          </p:nvPr>
        </p:nvSpPr>
        <p:spPr>
          <a:xfrm>
            <a:off x="4047175" y="2388500"/>
            <a:ext cx="4383600" cy="16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Defining an LLM</a:t>
            </a:r>
            <a:endParaRPr/>
          </a:p>
        </p:txBody>
      </p:sp>
      <p:sp>
        <p:nvSpPr>
          <p:cNvPr id="285" name="Google Shape;285;p30"/>
          <p:cNvSpPr txBox="1"/>
          <p:nvPr>
            <p:ph idx="2" type="title"/>
          </p:nvPr>
        </p:nvSpPr>
        <p:spPr>
          <a:xfrm>
            <a:off x="4047175" y="1438750"/>
            <a:ext cx="1230300" cy="88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grpSp>
        <p:nvGrpSpPr>
          <p:cNvPr id="286" name="Google Shape;286;p30"/>
          <p:cNvGrpSpPr/>
          <p:nvPr/>
        </p:nvGrpSpPr>
        <p:grpSpPr>
          <a:xfrm rot="756538">
            <a:off x="5159567" y="-1610422"/>
            <a:ext cx="4574157" cy="3479412"/>
            <a:chOff x="1522650" y="1117750"/>
            <a:chExt cx="4574075" cy="3479350"/>
          </a:xfrm>
        </p:grpSpPr>
        <p:sp>
          <p:nvSpPr>
            <p:cNvPr id="287" name="Google Shape;287;p3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an LLM?</a:t>
            </a:r>
            <a:endParaRPr/>
          </a:p>
        </p:txBody>
      </p:sp>
      <p:sp>
        <p:nvSpPr>
          <p:cNvPr id="294" name="Google Shape;294;p31"/>
          <p:cNvSpPr txBox="1"/>
          <p:nvPr>
            <p:ph idx="2" type="subTitle"/>
          </p:nvPr>
        </p:nvSpPr>
        <p:spPr>
          <a:xfrm>
            <a:off x="720000" y="1177950"/>
            <a:ext cx="4266300" cy="3669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100"/>
              <a:t>Before diving into the history of an LLM, we must first understand what an LLM is. </a:t>
            </a:r>
            <a:r>
              <a:rPr b="1" lang="en" sz="1100"/>
              <a:t>An LLM is short for Large Language Model and is a specific type of Artificial Intelligence (AI) used to solve both creative and analytical problems</a:t>
            </a:r>
            <a:r>
              <a:rPr lang="en" sz="1100"/>
              <a:t>. </a:t>
            </a:r>
            <a:endParaRPr sz="1100"/>
          </a:p>
          <a:p>
            <a:pPr indent="0" lvl="0" marL="0" rtl="0" algn="l">
              <a:lnSpc>
                <a:spcPct val="150000"/>
              </a:lnSpc>
              <a:spcBef>
                <a:spcPts val="0"/>
              </a:spcBef>
              <a:spcAft>
                <a:spcPts val="0"/>
              </a:spcAft>
              <a:buNone/>
            </a:pPr>
            <a:r>
              <a:t/>
            </a:r>
            <a:endParaRPr sz="1100"/>
          </a:p>
          <a:p>
            <a:pPr indent="0" lvl="0" marL="0" rtl="0" algn="l">
              <a:lnSpc>
                <a:spcPct val="150000"/>
              </a:lnSpc>
              <a:spcBef>
                <a:spcPts val="0"/>
              </a:spcBef>
              <a:spcAft>
                <a:spcPts val="0"/>
              </a:spcAft>
              <a:buNone/>
            </a:pPr>
            <a:r>
              <a:rPr lang="en" sz="1100"/>
              <a:t>While older models were built to solve specific tasks,  modern LLMs like ChatGPT and Claude function as general problem solvers that can handle everything from writing poetry to debugging complex code. </a:t>
            </a:r>
            <a:endParaRPr sz="1100"/>
          </a:p>
          <a:p>
            <a:pPr indent="0" lvl="0" marL="0" rtl="0" algn="l">
              <a:lnSpc>
                <a:spcPct val="150000"/>
              </a:lnSpc>
              <a:spcBef>
                <a:spcPts val="0"/>
              </a:spcBef>
              <a:spcAft>
                <a:spcPts val="0"/>
              </a:spcAft>
              <a:buNone/>
            </a:pPr>
            <a:r>
              <a:t/>
            </a:r>
            <a:endParaRPr sz="1100"/>
          </a:p>
          <a:p>
            <a:pPr indent="0" lvl="0" marL="0" rtl="0" algn="l">
              <a:lnSpc>
                <a:spcPct val="150000"/>
              </a:lnSpc>
              <a:spcBef>
                <a:spcPts val="0"/>
              </a:spcBef>
              <a:spcAft>
                <a:spcPts val="0"/>
              </a:spcAft>
              <a:buNone/>
            </a:pPr>
            <a:r>
              <a:rPr lang="en" sz="1100"/>
              <a:t>They have been able to </a:t>
            </a:r>
            <a:r>
              <a:rPr lang="en" sz="1100"/>
              <a:t>achieve</a:t>
            </a:r>
            <a:r>
              <a:rPr lang="en" sz="1100"/>
              <a:t> this by gathering large amounts of data to train on (i.e. reading most of the internet). By doing so, the LLM is now able to notice patterns in a users prompt and link </a:t>
            </a:r>
            <a:r>
              <a:rPr lang="en" sz="1100"/>
              <a:t>those</a:t>
            </a:r>
            <a:r>
              <a:rPr lang="en" sz="1100"/>
              <a:t> patterns back to something it has seen on the data it trained on. </a:t>
            </a:r>
            <a:endParaRPr sz="1100"/>
          </a:p>
        </p:txBody>
      </p:sp>
      <p:pic>
        <p:nvPicPr>
          <p:cNvPr id="295" name="Google Shape;295;p31"/>
          <p:cNvPicPr preferRelativeResize="0"/>
          <p:nvPr/>
        </p:nvPicPr>
        <p:blipFill>
          <a:blip r:embed="rId3">
            <a:alphaModFix/>
          </a:blip>
          <a:stretch>
            <a:fillRect/>
          </a:stretch>
        </p:blipFill>
        <p:spPr>
          <a:xfrm>
            <a:off x="5335375" y="747900"/>
            <a:ext cx="3088622" cy="38209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an LLM is not</a:t>
            </a:r>
            <a:endParaRPr/>
          </a:p>
        </p:txBody>
      </p:sp>
      <p:sp>
        <p:nvSpPr>
          <p:cNvPr id="301" name="Google Shape;301;p32"/>
          <p:cNvSpPr txBox="1"/>
          <p:nvPr>
            <p:ph idx="2" type="subTitle"/>
          </p:nvPr>
        </p:nvSpPr>
        <p:spPr>
          <a:xfrm>
            <a:off x="720000" y="1278600"/>
            <a:ext cx="7704000" cy="3675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While it is important to understand what an LLM is, it is also important to understand what it is not. One key feature about </a:t>
            </a:r>
            <a:r>
              <a:rPr b="1" lang="en"/>
              <a:t>LLM’s is that they assign probabilities to their output</a:t>
            </a:r>
            <a:r>
              <a:rPr lang="en"/>
              <a:t>, where they will pick the output with the highest probability (in other words, most likely option). With that being said, there are many softwares out there that do not always operate in terms of probability. Below are some popular examples:</a:t>
            </a:r>
            <a:endParaRPr/>
          </a:p>
          <a:p>
            <a:pPr indent="0" lvl="0" marL="0" rtl="0" algn="l">
              <a:lnSpc>
                <a:spcPct val="150000"/>
              </a:lnSpc>
              <a:spcBef>
                <a:spcPts val="0"/>
              </a:spcBef>
              <a:spcAft>
                <a:spcPts val="0"/>
              </a:spcAft>
              <a:buNone/>
            </a:pPr>
            <a:r>
              <a:t/>
            </a:r>
            <a:endParaRPr/>
          </a:p>
          <a:p>
            <a:pPr indent="-304800" lvl="0" marL="457200" rtl="0" algn="l">
              <a:lnSpc>
                <a:spcPct val="150000"/>
              </a:lnSpc>
              <a:spcBef>
                <a:spcPts val="0"/>
              </a:spcBef>
              <a:spcAft>
                <a:spcPts val="0"/>
              </a:spcAft>
              <a:buSzPts val="1200"/>
              <a:buChar char="●"/>
            </a:pPr>
            <a:r>
              <a:rPr lang="en"/>
              <a:t>Rule-Based Software: Calculators and Spell Checkers</a:t>
            </a:r>
            <a:endParaRPr/>
          </a:p>
          <a:p>
            <a:pPr indent="-304800" lvl="0" marL="457200" rtl="0" algn="l">
              <a:lnSpc>
                <a:spcPct val="150000"/>
              </a:lnSpc>
              <a:spcBef>
                <a:spcPts val="0"/>
              </a:spcBef>
              <a:spcAft>
                <a:spcPts val="0"/>
              </a:spcAft>
              <a:buSzPts val="1200"/>
              <a:buChar char="●"/>
            </a:pPr>
            <a:r>
              <a:rPr lang="en"/>
              <a:t>Search Engines: Google or Yahoo</a:t>
            </a:r>
            <a:endParaRPr/>
          </a:p>
          <a:p>
            <a:pPr indent="-304800" lvl="0" marL="457200" rtl="0" algn="l">
              <a:lnSpc>
                <a:spcPct val="150000"/>
              </a:lnSpc>
              <a:spcBef>
                <a:spcPts val="0"/>
              </a:spcBef>
              <a:spcAft>
                <a:spcPts val="0"/>
              </a:spcAft>
              <a:buSzPts val="1200"/>
              <a:buChar char="●"/>
            </a:pPr>
            <a:r>
              <a:rPr lang="en"/>
              <a:t>Virtual Assistants: Older versions of Siri or Amazon Alexa. </a:t>
            </a:r>
            <a:endParaRPr/>
          </a:p>
          <a:p>
            <a:pPr indent="-304800" lvl="1" marL="914400" rtl="0" algn="l">
              <a:lnSpc>
                <a:spcPct val="150000"/>
              </a:lnSpc>
              <a:spcBef>
                <a:spcPts val="0"/>
              </a:spcBef>
              <a:spcAft>
                <a:spcPts val="0"/>
              </a:spcAft>
              <a:buSzPts val="1200"/>
              <a:buChar char="○"/>
            </a:pPr>
            <a:r>
              <a:rPr lang="en"/>
              <a:t>This can often appear as a surprise to some since you can complete many tasks with them. However, these </a:t>
            </a:r>
            <a:r>
              <a:rPr lang="en"/>
              <a:t>assistants were limited to a certain amount of tasks like setting a timer or checking the weather, unlike an LLM, where the possibilities are endless</a:t>
            </a:r>
            <a:endParaRPr/>
          </a:p>
          <a:p>
            <a:pPr indent="0" lvl="0" marL="0" rtl="0" algn="l">
              <a:lnSpc>
                <a:spcPct val="150000"/>
              </a:lnSpc>
              <a:spcBef>
                <a:spcPts val="0"/>
              </a:spcBef>
              <a:spcAft>
                <a:spcPts val="0"/>
              </a:spcAft>
              <a:buNone/>
            </a:pPr>
            <a:r>
              <a:rPr lang="en"/>
              <a:t>(Cloudflare, n.d.)</a:t>
            </a:r>
            <a:endParaRPr/>
          </a:p>
          <a:p>
            <a:pPr indent="0" lvl="0" marL="0" rtl="0" algn="l">
              <a:lnSpc>
                <a:spcPct val="150000"/>
              </a:lnSpc>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LLM’s work? </a:t>
            </a:r>
            <a:endParaRPr/>
          </a:p>
        </p:txBody>
      </p:sp>
      <p:sp>
        <p:nvSpPr>
          <p:cNvPr id="307" name="Google Shape;307;p33"/>
          <p:cNvSpPr txBox="1"/>
          <p:nvPr>
            <p:ph idx="1" type="subTitle"/>
          </p:nvPr>
        </p:nvSpPr>
        <p:spPr>
          <a:xfrm>
            <a:off x="4911639" y="2679824"/>
            <a:ext cx="2424300" cy="15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3"/>
          <p:cNvSpPr txBox="1"/>
          <p:nvPr>
            <p:ph idx="2" type="subTitle"/>
          </p:nvPr>
        </p:nvSpPr>
        <p:spPr>
          <a:xfrm>
            <a:off x="1808050" y="2679824"/>
            <a:ext cx="2424300" cy="15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3"/>
          <p:cNvSpPr txBox="1"/>
          <p:nvPr>
            <p:ph idx="3" type="subTitle"/>
          </p:nvPr>
        </p:nvSpPr>
        <p:spPr>
          <a:xfrm>
            <a:off x="1808050" y="2244217"/>
            <a:ext cx="2424300" cy="44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3"/>
          <p:cNvSpPr txBox="1"/>
          <p:nvPr>
            <p:ph idx="4" type="subTitle"/>
          </p:nvPr>
        </p:nvSpPr>
        <p:spPr>
          <a:xfrm>
            <a:off x="4911639" y="2244217"/>
            <a:ext cx="2424300" cy="44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pic>
        <p:nvPicPr>
          <p:cNvPr descr="Learn the big ideas behind Large Language Models and how they are used bu artificial intelligence.  &#10;&#10;Need ready-made explainer videos for your classroom? Want to learn to create your own explainer videos?  &#10;&#10;http://CommonCraft.com &#10;Ready-made Videos and Downloadable Visuals for Educators&#10;&#10;http://ExplainerAcademy.com &#10;Learn how to turn your ideas into clear, understandable explanations and animated explainer videos with our online courses. &#10;&#10;http://ArtOfExplanation.com/ &#10;We wrote the book on explanation and how to make ideas easy to understand. &#10;&#10;Email ►https://www.commoncraft.com/newsletter" id="311" name="Google Shape;311;p33" title="Large Language Models (LLMs) Explained">
            <a:hlinkClick r:id="rId3"/>
          </p:cNvPr>
          <p:cNvPicPr preferRelativeResize="0"/>
          <p:nvPr/>
        </p:nvPicPr>
        <p:blipFill>
          <a:blip r:embed="rId4">
            <a:alphaModFix/>
          </a:blip>
          <a:stretch>
            <a:fillRect/>
          </a:stretch>
        </p:blipFill>
        <p:spPr>
          <a:xfrm>
            <a:off x="1391725" y="1276250"/>
            <a:ext cx="6360550" cy="3577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0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34"/>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317" name="Google Shape;317;p34"/>
          <p:cNvSpPr txBox="1"/>
          <p:nvPr>
            <p:ph idx="2" type="title"/>
          </p:nvPr>
        </p:nvSpPr>
        <p:spPr>
          <a:xfrm>
            <a:off x="4047175" y="1438750"/>
            <a:ext cx="4452000" cy="201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Knowledge Check</a:t>
            </a:r>
            <a:endParaRPr/>
          </a:p>
        </p:txBody>
      </p:sp>
      <p:grpSp>
        <p:nvGrpSpPr>
          <p:cNvPr id="318" name="Google Shape;318;p34"/>
          <p:cNvGrpSpPr/>
          <p:nvPr/>
        </p:nvGrpSpPr>
        <p:grpSpPr>
          <a:xfrm rot="756538">
            <a:off x="5159567" y="-1610422"/>
            <a:ext cx="4574157" cy="3479412"/>
            <a:chOff x="1522650" y="1117750"/>
            <a:chExt cx="4574075" cy="3479350"/>
          </a:xfrm>
        </p:grpSpPr>
        <p:sp>
          <p:nvSpPr>
            <p:cNvPr id="319" name="Google Shape;319;p34"/>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4"/>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grpSp>
        <p:nvGrpSpPr>
          <p:cNvPr id="325" name="Google Shape;325;p35"/>
          <p:cNvGrpSpPr/>
          <p:nvPr/>
        </p:nvGrpSpPr>
        <p:grpSpPr>
          <a:xfrm flipH="1" rot="4659980">
            <a:off x="3840892" y="3123036"/>
            <a:ext cx="4573980" cy="3479278"/>
            <a:chOff x="1522650" y="1117750"/>
            <a:chExt cx="4574075" cy="3479350"/>
          </a:xfrm>
        </p:grpSpPr>
        <p:sp>
          <p:nvSpPr>
            <p:cNvPr id="326" name="Google Shape;326;p35"/>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5"/>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 name="Google Shape;328;p35"/>
          <p:cNvSpPr txBox="1"/>
          <p:nvPr>
            <p:ph idx="2" type="title"/>
          </p:nvPr>
        </p:nvSpPr>
        <p:spPr>
          <a:xfrm>
            <a:off x="1086450" y="1480125"/>
            <a:ext cx="3717300" cy="77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Is it an LLM? </a:t>
            </a:r>
            <a:endParaRPr sz="1600"/>
          </a:p>
        </p:txBody>
      </p:sp>
      <p:sp>
        <p:nvSpPr>
          <p:cNvPr id="329" name="Google Shape;329;p35"/>
          <p:cNvSpPr txBox="1"/>
          <p:nvPr>
            <p:ph idx="3" type="subTitle"/>
          </p:nvPr>
        </p:nvSpPr>
        <p:spPr>
          <a:xfrm>
            <a:off x="1296450" y="2256875"/>
            <a:ext cx="3218100" cy="16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tool that scans a student's essay and flags a word as misspelled based on a dictionary.</a:t>
            </a:r>
            <a:endParaRPr/>
          </a:p>
        </p:txBody>
      </p:sp>
      <p:pic>
        <p:nvPicPr>
          <p:cNvPr id="330" name="Google Shape;330;p35"/>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grpSp>
        <p:nvGrpSpPr>
          <p:cNvPr id="335" name="Google Shape;335;p36"/>
          <p:cNvGrpSpPr/>
          <p:nvPr/>
        </p:nvGrpSpPr>
        <p:grpSpPr>
          <a:xfrm flipH="1" rot="4659980">
            <a:off x="3840892" y="3123036"/>
            <a:ext cx="4573980" cy="3479278"/>
            <a:chOff x="1522650" y="1117750"/>
            <a:chExt cx="4574075" cy="3479350"/>
          </a:xfrm>
        </p:grpSpPr>
        <p:sp>
          <p:nvSpPr>
            <p:cNvPr id="336" name="Google Shape;336;p36"/>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6"/>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 name="Google Shape;338;p36"/>
          <p:cNvSpPr txBox="1"/>
          <p:nvPr>
            <p:ph idx="2" type="title"/>
          </p:nvPr>
        </p:nvSpPr>
        <p:spPr>
          <a:xfrm>
            <a:off x="1086450" y="1480125"/>
            <a:ext cx="3717300" cy="7767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 sz="1600"/>
              <a:t>Correct Answer</a:t>
            </a:r>
            <a:endParaRPr sz="1600"/>
          </a:p>
        </p:txBody>
      </p:sp>
      <p:sp>
        <p:nvSpPr>
          <p:cNvPr id="339" name="Google Shape;339;p36"/>
          <p:cNvSpPr txBox="1"/>
          <p:nvPr>
            <p:ph idx="3" type="subTitle"/>
          </p:nvPr>
        </p:nvSpPr>
        <p:spPr>
          <a:xfrm>
            <a:off x="1296450" y="2256875"/>
            <a:ext cx="3218100" cy="159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Since we have a list of right and wrong answers, the computer </a:t>
            </a:r>
            <a:r>
              <a:rPr lang="en"/>
              <a:t>knows</a:t>
            </a:r>
            <a:r>
              <a:rPr lang="en"/>
              <a:t> exactly what is right and wrong. </a:t>
            </a:r>
            <a:endParaRPr/>
          </a:p>
          <a:p>
            <a:pPr indent="0" lvl="0" marL="457200" rtl="0" algn="l">
              <a:spcBef>
                <a:spcPts val="0"/>
              </a:spcBef>
              <a:spcAft>
                <a:spcPts val="0"/>
              </a:spcAft>
              <a:buNone/>
            </a:pPr>
            <a:r>
              <a:t/>
            </a:r>
            <a:endParaRPr/>
          </a:p>
        </p:txBody>
      </p:sp>
      <p:pic>
        <p:nvPicPr>
          <p:cNvPr id="340" name="Google Shape;340;p36"/>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grpSp>
        <p:nvGrpSpPr>
          <p:cNvPr id="345" name="Google Shape;345;p37"/>
          <p:cNvGrpSpPr/>
          <p:nvPr/>
        </p:nvGrpSpPr>
        <p:grpSpPr>
          <a:xfrm flipH="1" rot="4659980">
            <a:off x="3840892" y="3123036"/>
            <a:ext cx="4573980" cy="3479278"/>
            <a:chOff x="1522650" y="1117750"/>
            <a:chExt cx="4574075" cy="3479350"/>
          </a:xfrm>
        </p:grpSpPr>
        <p:sp>
          <p:nvSpPr>
            <p:cNvPr id="346" name="Google Shape;346;p3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 name="Google Shape;348;p37"/>
          <p:cNvSpPr txBox="1"/>
          <p:nvPr>
            <p:ph idx="2" type="title"/>
          </p:nvPr>
        </p:nvSpPr>
        <p:spPr>
          <a:xfrm>
            <a:off x="1086450" y="1480125"/>
            <a:ext cx="3717300" cy="77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Is it an LLM? </a:t>
            </a:r>
            <a:endParaRPr sz="1600"/>
          </a:p>
        </p:txBody>
      </p:sp>
      <p:sp>
        <p:nvSpPr>
          <p:cNvPr id="349" name="Google Shape;349;p37"/>
          <p:cNvSpPr txBox="1"/>
          <p:nvPr>
            <p:ph idx="3" type="subTitle"/>
          </p:nvPr>
        </p:nvSpPr>
        <p:spPr>
          <a:xfrm>
            <a:off x="1296450" y="2256875"/>
            <a:ext cx="3218100" cy="16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tool that reads a student's rough draft and suggests three different ways to rewrite the opening paragraph to sound more professional.</a:t>
            </a:r>
            <a:endParaRPr/>
          </a:p>
        </p:txBody>
      </p:sp>
      <p:pic>
        <p:nvPicPr>
          <p:cNvPr id="350" name="Google Shape;350;p37"/>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grpSp>
        <p:nvGrpSpPr>
          <p:cNvPr id="355" name="Google Shape;355;p38"/>
          <p:cNvGrpSpPr/>
          <p:nvPr/>
        </p:nvGrpSpPr>
        <p:grpSpPr>
          <a:xfrm flipH="1" rot="4659980">
            <a:off x="3840892" y="3123036"/>
            <a:ext cx="4573980" cy="3479278"/>
            <a:chOff x="1522650" y="1117750"/>
            <a:chExt cx="4574075" cy="3479350"/>
          </a:xfrm>
        </p:grpSpPr>
        <p:sp>
          <p:nvSpPr>
            <p:cNvPr id="356" name="Google Shape;356;p38"/>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8"/>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8" name="Google Shape;358;p38"/>
          <p:cNvSpPr txBox="1"/>
          <p:nvPr>
            <p:ph idx="2" type="title"/>
          </p:nvPr>
        </p:nvSpPr>
        <p:spPr>
          <a:xfrm>
            <a:off x="1086450" y="1480125"/>
            <a:ext cx="3717300" cy="7767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 sz="1600"/>
              <a:t>Correct Answer</a:t>
            </a:r>
            <a:endParaRPr sz="1600"/>
          </a:p>
        </p:txBody>
      </p:sp>
      <p:sp>
        <p:nvSpPr>
          <p:cNvPr id="359" name="Google Shape;359;p38"/>
          <p:cNvSpPr txBox="1"/>
          <p:nvPr>
            <p:ph idx="3" type="subTitle"/>
          </p:nvPr>
        </p:nvSpPr>
        <p:spPr>
          <a:xfrm>
            <a:off x="1296450" y="2256875"/>
            <a:ext cx="3218100" cy="159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Yes! This type of program will generate new text based on patterns. </a:t>
            </a:r>
            <a:endParaRPr/>
          </a:p>
          <a:p>
            <a:pPr indent="0" lvl="0" marL="457200" rtl="0" algn="l">
              <a:spcBef>
                <a:spcPts val="0"/>
              </a:spcBef>
              <a:spcAft>
                <a:spcPts val="0"/>
              </a:spcAft>
              <a:buNone/>
            </a:pPr>
            <a:r>
              <a:t/>
            </a:r>
            <a:endParaRPr/>
          </a:p>
        </p:txBody>
      </p:sp>
      <p:pic>
        <p:nvPicPr>
          <p:cNvPr id="360" name="Google Shape;360;p38"/>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grpSp>
        <p:nvGrpSpPr>
          <p:cNvPr id="365" name="Google Shape;365;p39"/>
          <p:cNvGrpSpPr/>
          <p:nvPr/>
        </p:nvGrpSpPr>
        <p:grpSpPr>
          <a:xfrm flipH="1" rot="4659980">
            <a:off x="3840892" y="3123036"/>
            <a:ext cx="4573980" cy="3479278"/>
            <a:chOff x="1522650" y="1117750"/>
            <a:chExt cx="4574075" cy="3479350"/>
          </a:xfrm>
        </p:grpSpPr>
        <p:sp>
          <p:nvSpPr>
            <p:cNvPr id="366" name="Google Shape;366;p39"/>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9"/>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8" name="Google Shape;368;p39"/>
          <p:cNvSpPr txBox="1"/>
          <p:nvPr>
            <p:ph idx="2" type="title"/>
          </p:nvPr>
        </p:nvSpPr>
        <p:spPr>
          <a:xfrm>
            <a:off x="1086450" y="1480125"/>
            <a:ext cx="3717300" cy="77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Is it an LLM? </a:t>
            </a:r>
            <a:endParaRPr sz="1600"/>
          </a:p>
        </p:txBody>
      </p:sp>
      <p:sp>
        <p:nvSpPr>
          <p:cNvPr id="369" name="Google Shape;369;p39"/>
          <p:cNvSpPr txBox="1"/>
          <p:nvPr>
            <p:ph idx="3" type="subTitle"/>
          </p:nvPr>
        </p:nvSpPr>
        <p:spPr>
          <a:xfrm>
            <a:off x="1296450" y="2256875"/>
            <a:ext cx="3218100" cy="16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device that allows you to text or call someone via a voice command</a:t>
            </a:r>
            <a:endParaRPr/>
          </a:p>
        </p:txBody>
      </p:sp>
      <p:pic>
        <p:nvPicPr>
          <p:cNvPr id="370" name="Google Shape;370;p39"/>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grpSp>
        <p:nvGrpSpPr>
          <p:cNvPr id="375" name="Google Shape;375;p40"/>
          <p:cNvGrpSpPr/>
          <p:nvPr/>
        </p:nvGrpSpPr>
        <p:grpSpPr>
          <a:xfrm flipH="1" rot="4659980">
            <a:off x="3840892" y="3123036"/>
            <a:ext cx="4573980" cy="3479278"/>
            <a:chOff x="1522650" y="1117750"/>
            <a:chExt cx="4574075" cy="3479350"/>
          </a:xfrm>
        </p:grpSpPr>
        <p:sp>
          <p:nvSpPr>
            <p:cNvPr id="376" name="Google Shape;376;p40"/>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0"/>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8" name="Google Shape;378;p40"/>
          <p:cNvSpPr txBox="1"/>
          <p:nvPr>
            <p:ph idx="2" type="title"/>
          </p:nvPr>
        </p:nvSpPr>
        <p:spPr>
          <a:xfrm>
            <a:off x="1086450" y="1480125"/>
            <a:ext cx="3717300" cy="7767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 sz="1600"/>
              <a:t>Correct Answer</a:t>
            </a:r>
            <a:endParaRPr sz="1600"/>
          </a:p>
        </p:txBody>
      </p:sp>
      <p:sp>
        <p:nvSpPr>
          <p:cNvPr id="379" name="Google Shape;379;p40"/>
          <p:cNvSpPr txBox="1"/>
          <p:nvPr>
            <p:ph idx="3" type="subTitle"/>
          </p:nvPr>
        </p:nvSpPr>
        <p:spPr>
          <a:xfrm>
            <a:off x="1296450" y="2256875"/>
            <a:ext cx="3218100" cy="159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This is a program that is only able to complete very </a:t>
            </a:r>
            <a:r>
              <a:rPr lang="en"/>
              <a:t>specific tasks and does not generate any new output for a user. </a:t>
            </a:r>
            <a:endParaRPr/>
          </a:p>
          <a:p>
            <a:pPr indent="0" lvl="0" marL="457200" rtl="0" algn="l">
              <a:spcBef>
                <a:spcPts val="0"/>
              </a:spcBef>
              <a:spcAft>
                <a:spcPts val="0"/>
              </a:spcAft>
              <a:buNone/>
            </a:pPr>
            <a:r>
              <a:t/>
            </a:r>
            <a:endParaRPr/>
          </a:p>
        </p:txBody>
      </p:sp>
      <p:pic>
        <p:nvPicPr>
          <p:cNvPr id="380" name="Google Shape;380;p40"/>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41"/>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386" name="Google Shape;386;p41"/>
          <p:cNvSpPr txBox="1"/>
          <p:nvPr>
            <p:ph type="title"/>
          </p:nvPr>
        </p:nvSpPr>
        <p:spPr>
          <a:xfrm>
            <a:off x="4047175" y="2388500"/>
            <a:ext cx="4383600" cy="16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History</a:t>
            </a:r>
            <a:endParaRPr/>
          </a:p>
        </p:txBody>
      </p:sp>
      <p:sp>
        <p:nvSpPr>
          <p:cNvPr id="387" name="Google Shape;387;p41"/>
          <p:cNvSpPr txBox="1"/>
          <p:nvPr>
            <p:ph idx="2" type="title"/>
          </p:nvPr>
        </p:nvSpPr>
        <p:spPr>
          <a:xfrm>
            <a:off x="4047175" y="1438750"/>
            <a:ext cx="1230300" cy="88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grpSp>
        <p:nvGrpSpPr>
          <p:cNvPr id="388" name="Google Shape;388;p41"/>
          <p:cNvGrpSpPr/>
          <p:nvPr/>
        </p:nvGrpSpPr>
        <p:grpSpPr>
          <a:xfrm rot="756538">
            <a:off x="5159567" y="-1610422"/>
            <a:ext cx="4574157" cy="3479412"/>
            <a:chOff x="1522650" y="1117750"/>
            <a:chExt cx="4574075" cy="3479350"/>
          </a:xfrm>
        </p:grpSpPr>
        <p:sp>
          <p:nvSpPr>
            <p:cNvPr id="389" name="Google Shape;389;p41"/>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1"/>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Statistical Era</a:t>
            </a:r>
            <a:endParaRPr/>
          </a:p>
        </p:txBody>
      </p:sp>
      <p:sp>
        <p:nvSpPr>
          <p:cNvPr id="396" name="Google Shape;396;p42"/>
          <p:cNvSpPr txBox="1"/>
          <p:nvPr>
            <p:ph idx="2" type="subTitle"/>
          </p:nvPr>
        </p:nvSpPr>
        <p:spPr>
          <a:xfrm>
            <a:off x="720000" y="1278600"/>
            <a:ext cx="7704000" cy="3675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Char char="●"/>
            </a:pPr>
            <a:r>
              <a:rPr lang="en"/>
              <a:t>1990s-2012</a:t>
            </a:r>
            <a:endParaRPr/>
          </a:p>
          <a:p>
            <a:pPr indent="-304800" lvl="0" marL="457200" rtl="0" algn="l">
              <a:lnSpc>
                <a:spcPct val="150000"/>
              </a:lnSpc>
              <a:spcBef>
                <a:spcPts val="0"/>
              </a:spcBef>
              <a:spcAft>
                <a:spcPts val="0"/>
              </a:spcAft>
              <a:buSzPts val="1200"/>
              <a:buChar char="●"/>
            </a:pPr>
            <a:r>
              <a:rPr lang="en"/>
              <a:t>Before the AI we know today, language technology relied on Statistical Language Models. These were advanced probability counters. </a:t>
            </a:r>
            <a:endParaRPr/>
          </a:p>
          <a:p>
            <a:pPr indent="-304800" lvl="1" marL="914400" rtl="0" algn="l">
              <a:lnSpc>
                <a:spcPct val="150000"/>
              </a:lnSpc>
              <a:spcBef>
                <a:spcPts val="0"/>
              </a:spcBef>
              <a:spcAft>
                <a:spcPts val="0"/>
              </a:spcAft>
              <a:buSzPts val="1200"/>
              <a:buChar char="○"/>
            </a:pPr>
            <a:r>
              <a:rPr lang="en"/>
              <a:t>For example, by looking at massive amounts of text, these systems calculated how often certain words appeared near each other. If you typed "New York," the model knew there was a high statistical probability the next word would be "City." </a:t>
            </a:r>
            <a:endParaRPr/>
          </a:p>
          <a:p>
            <a:pPr indent="-304800" lvl="0" marL="457200" rtl="0" algn="l">
              <a:lnSpc>
                <a:spcPct val="150000"/>
              </a:lnSpc>
              <a:spcBef>
                <a:spcPts val="0"/>
              </a:spcBef>
              <a:spcAft>
                <a:spcPts val="0"/>
              </a:spcAft>
              <a:buSzPts val="1200"/>
              <a:buChar char="●"/>
            </a:pPr>
            <a:r>
              <a:rPr lang="en"/>
              <a:t>While these language </a:t>
            </a:r>
            <a:r>
              <a:rPr lang="en"/>
              <a:t>models</a:t>
            </a:r>
            <a:r>
              <a:rPr lang="en"/>
              <a:t> were helpful for early versions of Google Translate or basic spell-checkers, these models didn't "understand" context; they only knew that certain words were frequently neighbors.</a:t>
            </a:r>
            <a:endParaRPr/>
          </a:p>
          <a:p>
            <a:pPr indent="0" lvl="0" marL="0" rtl="0" algn="l">
              <a:lnSpc>
                <a:spcPct val="150000"/>
              </a:lnSpc>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Revolution and Transformer</a:t>
            </a:r>
            <a:endParaRPr/>
          </a:p>
        </p:txBody>
      </p:sp>
      <p:sp>
        <p:nvSpPr>
          <p:cNvPr id="402" name="Google Shape;402;p43"/>
          <p:cNvSpPr txBox="1"/>
          <p:nvPr>
            <p:ph idx="2" type="subTitle"/>
          </p:nvPr>
        </p:nvSpPr>
        <p:spPr>
          <a:xfrm>
            <a:off x="720000" y="1278600"/>
            <a:ext cx="7704000" cy="3675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Char char="●"/>
            </a:pPr>
            <a:r>
              <a:rPr lang="en"/>
              <a:t>2013-2017</a:t>
            </a:r>
            <a:endParaRPr/>
          </a:p>
          <a:p>
            <a:pPr indent="-304800" lvl="0" marL="457200" rtl="0" algn="l">
              <a:lnSpc>
                <a:spcPct val="150000"/>
              </a:lnSpc>
              <a:spcBef>
                <a:spcPts val="0"/>
              </a:spcBef>
              <a:spcAft>
                <a:spcPts val="0"/>
              </a:spcAft>
              <a:buSzPts val="1200"/>
              <a:buChar char="●"/>
            </a:pPr>
            <a:r>
              <a:rPr lang="en"/>
              <a:t>The first major breakthrough happened in 2013 with Word Embeddings. This allowed computers to understand the relationships between words (like "king" is to "queen" what "man" is to "woman"). </a:t>
            </a:r>
            <a:endParaRPr/>
          </a:p>
          <a:p>
            <a:pPr indent="-304800" lvl="0" marL="457200" rtl="0" algn="l">
              <a:lnSpc>
                <a:spcPct val="150000"/>
              </a:lnSpc>
              <a:spcBef>
                <a:spcPts val="0"/>
              </a:spcBef>
              <a:spcAft>
                <a:spcPts val="0"/>
              </a:spcAft>
              <a:buSzPts val="1200"/>
              <a:buChar char="●"/>
            </a:pPr>
            <a:r>
              <a:rPr lang="en"/>
              <a:t>However, the most pivotal moment in LLM history occurred in 2017 with a paper called "Attention Is All You Need." This introduced the Transformer architecture, which allows an AI to pay "attention" to every word in a long sentence at the same time. </a:t>
            </a:r>
            <a:endParaRPr/>
          </a:p>
          <a:p>
            <a:pPr indent="-304800" lvl="1" marL="914400" rtl="0" algn="l">
              <a:lnSpc>
                <a:spcPct val="150000"/>
              </a:lnSpc>
              <a:spcBef>
                <a:spcPts val="0"/>
              </a:spcBef>
              <a:spcAft>
                <a:spcPts val="0"/>
              </a:spcAft>
              <a:buSzPts val="1200"/>
              <a:buChar char="○"/>
            </a:pPr>
            <a:r>
              <a:rPr lang="en"/>
              <a:t>To understand this more clearly look at this sentence: The </a:t>
            </a:r>
            <a:r>
              <a:rPr b="1" lang="en"/>
              <a:t>professor</a:t>
            </a:r>
            <a:r>
              <a:rPr lang="en"/>
              <a:t>, who had spent three decades teaching complex physics and won numerous awards, walked into the </a:t>
            </a:r>
            <a:r>
              <a:rPr b="1" lang="en"/>
              <a:t>classroom</a:t>
            </a:r>
            <a:r>
              <a:rPr lang="en"/>
              <a:t>. </a:t>
            </a:r>
            <a:endParaRPr/>
          </a:p>
          <a:p>
            <a:pPr indent="-304800" lvl="1" marL="914400" rtl="0" algn="l">
              <a:lnSpc>
                <a:spcPct val="150000"/>
              </a:lnSpc>
              <a:spcBef>
                <a:spcPts val="0"/>
              </a:spcBef>
              <a:spcAft>
                <a:spcPts val="0"/>
              </a:spcAft>
              <a:buSzPts val="1200"/>
              <a:buChar char="○"/>
            </a:pPr>
            <a:r>
              <a:rPr lang="en"/>
              <a:t>Prior to </a:t>
            </a:r>
            <a:r>
              <a:rPr lang="en"/>
              <a:t>transformers</a:t>
            </a:r>
            <a:r>
              <a:rPr lang="en"/>
              <a:t>, computers would look at one word at a time. In this case, since professor and classroom are very far apart from each other, AI systems would have a hard time connecting them together.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Neural Revolution and Transformer</a:t>
            </a:r>
            <a:endParaRPr/>
          </a:p>
        </p:txBody>
      </p:sp>
      <p:sp>
        <p:nvSpPr>
          <p:cNvPr id="408" name="Google Shape;408;p44"/>
          <p:cNvSpPr txBox="1"/>
          <p:nvPr>
            <p:ph idx="2" type="subTitle"/>
          </p:nvPr>
        </p:nvSpPr>
        <p:spPr>
          <a:xfrm>
            <a:off x="720000" y="1278600"/>
            <a:ext cx="7704000" cy="3675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Char char="●"/>
            </a:pPr>
            <a:r>
              <a:rPr lang="en"/>
              <a:t>The Transformer architecture now </a:t>
            </a:r>
            <a:r>
              <a:rPr lang="en"/>
              <a:t>allowed</a:t>
            </a:r>
            <a:r>
              <a:rPr lang="en"/>
              <a:t> computers to begin thinking like humans. Specifically, we gave a computer the ability to have context clues</a:t>
            </a:r>
            <a:endParaRPr/>
          </a:p>
          <a:p>
            <a:pPr indent="-304800" lvl="1" marL="914400" rtl="0" algn="l">
              <a:lnSpc>
                <a:spcPct val="150000"/>
              </a:lnSpc>
              <a:spcBef>
                <a:spcPts val="0"/>
              </a:spcBef>
              <a:spcAft>
                <a:spcPts val="0"/>
              </a:spcAft>
              <a:buSzPts val="1200"/>
              <a:buChar char="○"/>
            </a:pPr>
            <a:r>
              <a:rPr lang="en"/>
              <a:t>If the word is "bank," the AI looks at the surrounding words. If it sees "money" or "loan," it knows it’s a financial institution; if it sees "river" or "water," it knows it’s a piece of land.</a:t>
            </a:r>
            <a:endParaRPr/>
          </a:p>
          <a:p>
            <a:pPr indent="-304800" lvl="0" marL="457200" rtl="0" algn="l">
              <a:lnSpc>
                <a:spcPct val="150000"/>
              </a:lnSpc>
              <a:spcBef>
                <a:spcPts val="0"/>
              </a:spcBef>
              <a:spcAft>
                <a:spcPts val="0"/>
              </a:spcAft>
              <a:buSzPts val="1200"/>
              <a:buChar char="●"/>
            </a:pPr>
            <a:r>
              <a:rPr lang="en"/>
              <a:t>This was such a big step for LLMS because it could now process data much </a:t>
            </a:r>
            <a:r>
              <a:rPr lang="en"/>
              <a:t>faster. Now, the AI does not have to wait to finish one word before starting the next, it can be trained on massive amounts of data (like the entire internet).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Generative Era</a:t>
            </a:r>
            <a:endParaRPr/>
          </a:p>
        </p:txBody>
      </p:sp>
      <p:sp>
        <p:nvSpPr>
          <p:cNvPr id="414" name="Google Shape;414;p45"/>
          <p:cNvSpPr txBox="1"/>
          <p:nvPr>
            <p:ph idx="2" type="subTitle"/>
          </p:nvPr>
        </p:nvSpPr>
        <p:spPr>
          <a:xfrm>
            <a:off x="720000" y="1278600"/>
            <a:ext cx="7704000" cy="3675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Char char="●"/>
            </a:pPr>
            <a:r>
              <a:rPr lang="en"/>
              <a:t>2018 - present day</a:t>
            </a:r>
            <a:endParaRPr/>
          </a:p>
          <a:p>
            <a:pPr indent="-304800" lvl="0" marL="457200" rtl="0" algn="l">
              <a:lnSpc>
                <a:spcPct val="150000"/>
              </a:lnSpc>
              <a:spcBef>
                <a:spcPts val="0"/>
              </a:spcBef>
              <a:spcAft>
                <a:spcPts val="0"/>
              </a:spcAft>
              <a:buSzPts val="1200"/>
              <a:buChar char="●"/>
            </a:pPr>
            <a:r>
              <a:rPr lang="en"/>
              <a:t>Once the Transformer was invented, the final breakthrough was Scaling. Researchers discovered that if you made these models significantly larger (training them on the entire internet) they developed "emergent" abilities like coding, summarizing, and reasoning. </a:t>
            </a:r>
            <a:endParaRPr/>
          </a:p>
          <a:p>
            <a:pPr indent="-304800" lvl="0" marL="457200" rtl="0" algn="l">
              <a:lnSpc>
                <a:spcPct val="150000"/>
              </a:lnSpc>
              <a:spcBef>
                <a:spcPts val="0"/>
              </a:spcBef>
              <a:spcAft>
                <a:spcPts val="0"/>
              </a:spcAft>
              <a:buSzPts val="1200"/>
              <a:buChar char="●"/>
            </a:pPr>
            <a:r>
              <a:rPr lang="en"/>
              <a:t>While early models of ChatGPT were very impressive, the launch of ChatGPT in November 2022 was the milestone that brought this technology to the general public. </a:t>
            </a:r>
            <a:endParaRPr/>
          </a:p>
          <a:p>
            <a:pPr indent="-304800" lvl="0" marL="457200" rtl="0" algn="l">
              <a:lnSpc>
                <a:spcPct val="150000"/>
              </a:lnSpc>
              <a:spcBef>
                <a:spcPts val="0"/>
              </a:spcBef>
              <a:spcAft>
                <a:spcPts val="0"/>
              </a:spcAft>
              <a:buSzPts val="1200"/>
              <a:buChar char="●"/>
            </a:pPr>
            <a:r>
              <a:rPr lang="en"/>
              <a:t>Today, we have moved into specialized models like Claude, which is prized for its safety and coding accuracy, and OpenAI o1, which uses "Chain of Thought" to think through steps before it answers.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Activity #1</a:t>
            </a:r>
            <a:endParaRPr/>
          </a:p>
        </p:txBody>
      </p:sp>
      <p:sp>
        <p:nvSpPr>
          <p:cNvPr id="420" name="Google Shape;420;p46"/>
          <p:cNvSpPr txBox="1"/>
          <p:nvPr>
            <p:ph idx="1" type="body"/>
          </p:nvPr>
        </p:nvSpPr>
        <p:spPr>
          <a:xfrm>
            <a:off x="580800" y="1162500"/>
            <a:ext cx="7843200" cy="34041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a:t>Write a discussion post explaining the history and progression of Large Language Models (LLMs) over time. In your response, address how the technology has shifted from the "Statistical Era" of the 1990s to  the modern "Generative Era," where tools like ChatGPT and Claude act as general-purpose problem solvers.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47"/>
          <p:cNvPicPr preferRelativeResize="0"/>
          <p:nvPr/>
        </p:nvPicPr>
        <p:blipFill>
          <a:blip r:embed="rId3">
            <a:alphaModFix/>
          </a:blip>
          <a:stretch>
            <a:fillRect/>
          </a:stretch>
        </p:blipFill>
        <p:spPr>
          <a:xfrm flipH="1">
            <a:off x="10" y="0"/>
            <a:ext cx="3405191" cy="5143500"/>
          </a:xfrm>
          <a:prstGeom prst="rect">
            <a:avLst/>
          </a:prstGeom>
          <a:noFill/>
          <a:ln>
            <a:noFill/>
          </a:ln>
        </p:spPr>
      </p:pic>
      <p:sp>
        <p:nvSpPr>
          <p:cNvPr id="426" name="Google Shape;426;p47"/>
          <p:cNvSpPr txBox="1"/>
          <p:nvPr>
            <p:ph type="title"/>
          </p:nvPr>
        </p:nvSpPr>
        <p:spPr>
          <a:xfrm>
            <a:off x="4047175" y="2388500"/>
            <a:ext cx="4383600" cy="162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00"/>
              <a:t>Common LLMs and their features</a:t>
            </a:r>
            <a:endParaRPr sz="3700"/>
          </a:p>
        </p:txBody>
      </p:sp>
      <p:sp>
        <p:nvSpPr>
          <p:cNvPr id="427" name="Google Shape;427;p47"/>
          <p:cNvSpPr txBox="1"/>
          <p:nvPr>
            <p:ph idx="2" type="title"/>
          </p:nvPr>
        </p:nvSpPr>
        <p:spPr>
          <a:xfrm>
            <a:off x="4047175" y="1438750"/>
            <a:ext cx="1230300" cy="88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grpSp>
        <p:nvGrpSpPr>
          <p:cNvPr id="428" name="Google Shape;428;p47"/>
          <p:cNvGrpSpPr/>
          <p:nvPr/>
        </p:nvGrpSpPr>
        <p:grpSpPr>
          <a:xfrm rot="756538">
            <a:off x="5159567" y="-1610422"/>
            <a:ext cx="4574157" cy="3479412"/>
            <a:chOff x="1522650" y="1117750"/>
            <a:chExt cx="4574075" cy="3479350"/>
          </a:xfrm>
        </p:grpSpPr>
        <p:sp>
          <p:nvSpPr>
            <p:cNvPr id="429" name="Google Shape;429;p47"/>
            <p:cNvSpPr/>
            <p:nvPr/>
          </p:nvSpPr>
          <p:spPr>
            <a:xfrm>
              <a:off x="2305900" y="1117750"/>
              <a:ext cx="3790825" cy="3217100"/>
            </a:xfrm>
            <a:custGeom>
              <a:rect b="b" l="l" r="r" t="t"/>
              <a:pathLst>
                <a:path extrusionOk="0" h="128684" w="151633">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7"/>
            <p:cNvSpPr/>
            <p:nvPr/>
          </p:nvSpPr>
          <p:spPr>
            <a:xfrm>
              <a:off x="1522650" y="3538750"/>
              <a:ext cx="2417375" cy="1058350"/>
            </a:xfrm>
            <a:custGeom>
              <a:rect b="b" l="l" r="r" t="t"/>
              <a:pathLst>
                <a:path extrusionOk="0" h="42334" w="96695">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Best Features for these LLM’s</a:t>
            </a:r>
            <a:endParaRPr/>
          </a:p>
        </p:txBody>
      </p:sp>
      <p:sp>
        <p:nvSpPr>
          <p:cNvPr id="436" name="Google Shape;436;p48"/>
          <p:cNvSpPr txBox="1"/>
          <p:nvPr>
            <p:ph idx="2" type="subTitle"/>
          </p:nvPr>
        </p:nvSpPr>
        <p:spPr>
          <a:xfrm>
            <a:off x="720000" y="1278600"/>
            <a:ext cx="7704000" cy="36753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100"/>
              <a:t>ChatGPT: The Socratic Tutor (Learning Mode)</a:t>
            </a:r>
            <a:endParaRPr sz="1100"/>
          </a:p>
          <a:p>
            <a:pPr indent="-298450" lvl="1" marL="914400" rtl="0" algn="l">
              <a:lnSpc>
                <a:spcPct val="150000"/>
              </a:lnSpc>
              <a:spcBef>
                <a:spcPts val="0"/>
              </a:spcBef>
              <a:spcAft>
                <a:spcPts val="0"/>
              </a:spcAft>
              <a:buSzPts val="1100"/>
              <a:buChar char="○"/>
            </a:pPr>
            <a:r>
              <a:rPr lang="en" sz="1100"/>
              <a:t>Use the "Learning" tool specifically designed for education. Instead of just providing the final answer, ChatGPT will identify where a student is stuck and ask a guiding question, mimicking a one-on-one tutor to preserve student "productive struggle."</a:t>
            </a:r>
            <a:endParaRPr sz="1100"/>
          </a:p>
          <a:p>
            <a:pPr indent="-298450" lvl="1" marL="914400" rtl="0" algn="l">
              <a:lnSpc>
                <a:spcPct val="150000"/>
              </a:lnSpc>
              <a:spcBef>
                <a:spcPts val="0"/>
              </a:spcBef>
              <a:spcAft>
                <a:spcPts val="0"/>
              </a:spcAft>
              <a:buSzPts val="1100"/>
              <a:buChar char="○"/>
            </a:pPr>
            <a:r>
              <a:rPr lang="en" sz="1100"/>
              <a:t>Managed by Open AI</a:t>
            </a:r>
            <a:endParaRPr sz="1100"/>
          </a:p>
          <a:p>
            <a:pPr indent="-298450" lvl="0" marL="457200" rtl="0" algn="l">
              <a:lnSpc>
                <a:spcPct val="150000"/>
              </a:lnSpc>
              <a:spcBef>
                <a:spcPts val="0"/>
              </a:spcBef>
              <a:spcAft>
                <a:spcPts val="0"/>
              </a:spcAft>
              <a:buSzPts val="1100"/>
              <a:buChar char="●"/>
            </a:pPr>
            <a:r>
              <a:rPr lang="en" sz="1100"/>
              <a:t>Gemini: The One-Click Quiz Master</a:t>
            </a:r>
            <a:endParaRPr sz="1100"/>
          </a:p>
          <a:p>
            <a:pPr indent="-298450" lvl="1" marL="914400" rtl="0" algn="l">
              <a:lnSpc>
                <a:spcPct val="150000"/>
              </a:lnSpc>
              <a:spcBef>
                <a:spcPts val="0"/>
              </a:spcBef>
              <a:spcAft>
                <a:spcPts val="0"/>
              </a:spcAft>
              <a:buSzPts val="1100"/>
              <a:buChar char="○"/>
            </a:pPr>
            <a:r>
              <a:rPr lang="en" sz="1100"/>
              <a:t>"Create a Quiz" via Canvas. Simply upload a long lecture document or presentation, and Gemini can automatically transform that content into a fully interactive multiple-choice quiz with clickable answers and immediate feedback for students.</a:t>
            </a:r>
            <a:endParaRPr sz="1100"/>
          </a:p>
          <a:p>
            <a:pPr indent="-298450" lvl="1" marL="914400" rtl="0" algn="l">
              <a:lnSpc>
                <a:spcPct val="150000"/>
              </a:lnSpc>
              <a:spcBef>
                <a:spcPts val="0"/>
              </a:spcBef>
              <a:spcAft>
                <a:spcPts val="0"/>
              </a:spcAft>
              <a:buSzPts val="1100"/>
              <a:buChar char="○"/>
            </a:pPr>
            <a:r>
              <a:rPr lang="en" sz="1100"/>
              <a:t>Managed by Google</a:t>
            </a:r>
            <a:endParaRPr sz="1100"/>
          </a:p>
          <a:p>
            <a:pPr indent="-298450" lvl="0" marL="457200" rtl="0" algn="l">
              <a:lnSpc>
                <a:spcPct val="150000"/>
              </a:lnSpc>
              <a:spcBef>
                <a:spcPts val="0"/>
              </a:spcBef>
              <a:spcAft>
                <a:spcPts val="0"/>
              </a:spcAft>
              <a:buSzPts val="1100"/>
              <a:buChar char="●"/>
            </a:pPr>
            <a:r>
              <a:rPr lang="en" sz="1100"/>
              <a:t>NotebookLM: The Instant Podcast (Audio Overview)</a:t>
            </a:r>
            <a:endParaRPr sz="1100"/>
          </a:p>
          <a:p>
            <a:pPr indent="-298450" lvl="1" marL="914400" rtl="0" algn="l">
              <a:lnSpc>
                <a:spcPct val="150000"/>
              </a:lnSpc>
              <a:spcBef>
                <a:spcPts val="0"/>
              </a:spcBef>
              <a:spcAft>
                <a:spcPts val="0"/>
              </a:spcAft>
              <a:buSzPts val="1100"/>
              <a:buChar char="○"/>
            </a:pPr>
            <a:r>
              <a:rPr lang="en" sz="1100"/>
              <a:t>Audio Overviews. Upload your research papers or class notes, and NotebookLM will generate a high-quality "podcast" where two AI hosts engage in a lively, deep-dive discussion about your specific materials.</a:t>
            </a:r>
            <a:endParaRPr sz="1100"/>
          </a:p>
          <a:p>
            <a:pPr indent="-298450" lvl="1" marL="914400" rtl="0" algn="l">
              <a:lnSpc>
                <a:spcPct val="150000"/>
              </a:lnSpc>
              <a:spcBef>
                <a:spcPts val="0"/>
              </a:spcBef>
              <a:spcAft>
                <a:spcPts val="0"/>
              </a:spcAft>
              <a:buSzPts val="1100"/>
              <a:buChar char="○"/>
            </a:pPr>
            <a:r>
              <a:rPr lang="en" sz="1100"/>
              <a:t>Managed by Google</a:t>
            </a:r>
            <a:endParaRPr sz="1100"/>
          </a:p>
        </p:txBody>
      </p:sp>
      <p:pic>
        <p:nvPicPr>
          <p:cNvPr id="437" name="Google Shape;437;p48"/>
          <p:cNvPicPr preferRelativeResize="0"/>
          <p:nvPr/>
        </p:nvPicPr>
        <p:blipFill>
          <a:blip r:embed="rId3">
            <a:alphaModFix/>
          </a:blip>
          <a:stretch>
            <a:fillRect/>
          </a:stretch>
        </p:blipFill>
        <p:spPr>
          <a:xfrm>
            <a:off x="465250" y="1795650"/>
            <a:ext cx="1022678" cy="572700"/>
          </a:xfrm>
          <a:prstGeom prst="rect">
            <a:avLst/>
          </a:prstGeom>
          <a:noFill/>
          <a:ln>
            <a:noFill/>
          </a:ln>
        </p:spPr>
      </p:pic>
      <p:pic>
        <p:nvPicPr>
          <p:cNvPr id="438" name="Google Shape;438;p48"/>
          <p:cNvPicPr preferRelativeResize="0"/>
          <p:nvPr/>
        </p:nvPicPr>
        <p:blipFill>
          <a:blip r:embed="rId4">
            <a:alphaModFix/>
          </a:blip>
          <a:stretch>
            <a:fillRect/>
          </a:stretch>
        </p:blipFill>
        <p:spPr>
          <a:xfrm>
            <a:off x="690244" y="2947486"/>
            <a:ext cx="572679" cy="572700"/>
          </a:xfrm>
          <a:prstGeom prst="rect">
            <a:avLst/>
          </a:prstGeom>
          <a:noFill/>
          <a:ln>
            <a:noFill/>
          </a:ln>
        </p:spPr>
      </p:pic>
      <p:pic>
        <p:nvPicPr>
          <p:cNvPr id="439" name="Google Shape;439;p48"/>
          <p:cNvPicPr preferRelativeResize="0"/>
          <p:nvPr/>
        </p:nvPicPr>
        <p:blipFill>
          <a:blip r:embed="rId5">
            <a:alphaModFix/>
          </a:blip>
          <a:stretch>
            <a:fillRect/>
          </a:stretch>
        </p:blipFill>
        <p:spPr>
          <a:xfrm>
            <a:off x="593349" y="4099299"/>
            <a:ext cx="766475" cy="76649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Best Features for these LLM’s</a:t>
            </a:r>
            <a:endParaRPr/>
          </a:p>
        </p:txBody>
      </p:sp>
      <p:sp>
        <p:nvSpPr>
          <p:cNvPr id="445" name="Google Shape;445;p49"/>
          <p:cNvSpPr txBox="1"/>
          <p:nvPr>
            <p:ph idx="2" type="subTitle"/>
          </p:nvPr>
        </p:nvSpPr>
        <p:spPr>
          <a:xfrm>
            <a:off x="720000" y="1278600"/>
            <a:ext cx="7704000" cy="36753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100"/>
              <a:t>Perplexity: The Citation Engine (Pages)</a:t>
            </a:r>
            <a:endParaRPr sz="1100"/>
          </a:p>
          <a:p>
            <a:pPr indent="-298450" lvl="1" marL="914400" rtl="0" algn="l">
              <a:lnSpc>
                <a:spcPct val="150000"/>
              </a:lnSpc>
              <a:spcBef>
                <a:spcPts val="0"/>
              </a:spcBef>
              <a:spcAft>
                <a:spcPts val="0"/>
              </a:spcAft>
              <a:buSzPts val="1100"/>
              <a:buChar char="○"/>
            </a:pPr>
            <a:r>
              <a:rPr lang="en" sz="1100"/>
              <a:t>After conducting deep research on a topic, Perplexity can turn your findings into a formatted, Wikipedia-style web page with live citations and images that you can instantly share with your students as a study guide.</a:t>
            </a:r>
            <a:endParaRPr sz="1100"/>
          </a:p>
          <a:p>
            <a:pPr indent="-298450" lvl="1" marL="914400" rtl="0" algn="l">
              <a:lnSpc>
                <a:spcPct val="150000"/>
              </a:lnSpc>
              <a:spcBef>
                <a:spcPts val="0"/>
              </a:spcBef>
              <a:spcAft>
                <a:spcPts val="0"/>
              </a:spcAft>
              <a:buSzPts val="1100"/>
              <a:buChar char="○"/>
            </a:pPr>
            <a:r>
              <a:rPr lang="en" sz="1100"/>
              <a:t>Managed privately by Perplexity</a:t>
            </a:r>
            <a:endParaRPr sz="1100"/>
          </a:p>
          <a:p>
            <a:pPr indent="-298450" lvl="1" marL="914400" rtl="0" algn="l">
              <a:lnSpc>
                <a:spcPct val="150000"/>
              </a:lnSpc>
              <a:spcBef>
                <a:spcPts val="0"/>
              </a:spcBef>
              <a:spcAft>
                <a:spcPts val="0"/>
              </a:spcAft>
              <a:buSzPts val="1100"/>
              <a:buChar char="○"/>
            </a:pPr>
            <a:r>
              <a:rPr lang="en" sz="1100"/>
              <a:t>Founded by researchers from OpenAI</a:t>
            </a:r>
            <a:endParaRPr sz="1100"/>
          </a:p>
          <a:p>
            <a:pPr indent="-298450" lvl="0" marL="457200" rtl="0" algn="l">
              <a:lnSpc>
                <a:spcPct val="150000"/>
              </a:lnSpc>
              <a:spcBef>
                <a:spcPts val="0"/>
              </a:spcBef>
              <a:spcAft>
                <a:spcPts val="0"/>
              </a:spcAft>
              <a:buSzPts val="1100"/>
              <a:buChar char="●"/>
            </a:pPr>
            <a:r>
              <a:rPr lang="en" sz="1100"/>
              <a:t>Copilot: The Presentation Architect</a:t>
            </a:r>
            <a:endParaRPr sz="1100"/>
          </a:p>
          <a:p>
            <a:pPr indent="-298450" lvl="1" marL="914400" rtl="0" algn="l">
              <a:lnSpc>
                <a:spcPct val="150000"/>
              </a:lnSpc>
              <a:spcBef>
                <a:spcPts val="0"/>
              </a:spcBef>
              <a:spcAft>
                <a:spcPts val="0"/>
              </a:spcAft>
              <a:buSzPts val="1100"/>
              <a:buChar char="○"/>
            </a:pPr>
            <a:r>
              <a:rPr lang="en" sz="1100"/>
              <a:t>If you have a detailed lesson plan in Microsoft Word, you can ask Copilot in PowerPoint to "Create a presentation from file," and it will automatically build a slide deck with images and bullet points based on your document.</a:t>
            </a:r>
            <a:endParaRPr sz="1100"/>
          </a:p>
          <a:p>
            <a:pPr indent="-298450" lvl="1" marL="914400" rtl="0" algn="l">
              <a:lnSpc>
                <a:spcPct val="150000"/>
              </a:lnSpc>
              <a:spcBef>
                <a:spcPts val="0"/>
              </a:spcBef>
              <a:spcAft>
                <a:spcPts val="0"/>
              </a:spcAft>
              <a:buSzPts val="1100"/>
              <a:buChar char="○"/>
            </a:pPr>
            <a:r>
              <a:rPr lang="en" sz="1100"/>
              <a:t>Managed by Microsoft</a:t>
            </a:r>
            <a:endParaRPr sz="1100"/>
          </a:p>
          <a:p>
            <a:pPr indent="-298450" lvl="0" marL="457200" rtl="0" algn="l">
              <a:lnSpc>
                <a:spcPct val="150000"/>
              </a:lnSpc>
              <a:spcBef>
                <a:spcPts val="0"/>
              </a:spcBef>
              <a:spcAft>
                <a:spcPts val="0"/>
              </a:spcAft>
              <a:buSzPts val="1100"/>
              <a:buChar char="●"/>
            </a:pPr>
            <a:r>
              <a:rPr lang="en" sz="1100"/>
              <a:t>DeepSeek: The "Thinking Mode" for STEM</a:t>
            </a:r>
            <a:endParaRPr sz="1100"/>
          </a:p>
          <a:p>
            <a:pPr indent="-298450" lvl="1" marL="914400" rtl="0" algn="l">
              <a:lnSpc>
                <a:spcPct val="150000"/>
              </a:lnSpc>
              <a:spcBef>
                <a:spcPts val="0"/>
              </a:spcBef>
              <a:spcAft>
                <a:spcPts val="0"/>
              </a:spcAft>
              <a:buSzPts val="1100"/>
              <a:buChar char="○"/>
            </a:pPr>
            <a:r>
              <a:rPr lang="en" sz="1100"/>
              <a:t>When solving a complex math or physics proof, DeepSeek displays its "Chain of Thought" in a collapsible window, showing every logical step it took before reaching the final answer, helping students understand the "how" behind a solution.</a:t>
            </a:r>
            <a:endParaRPr sz="1100"/>
          </a:p>
          <a:p>
            <a:pPr indent="-298450" lvl="1" marL="914400" rtl="0" algn="l">
              <a:lnSpc>
                <a:spcPct val="150000"/>
              </a:lnSpc>
              <a:spcBef>
                <a:spcPts val="0"/>
              </a:spcBef>
              <a:spcAft>
                <a:spcPts val="0"/>
              </a:spcAft>
              <a:buSzPts val="1100"/>
              <a:buChar char="○"/>
            </a:pPr>
            <a:r>
              <a:rPr lang="en" sz="1100"/>
              <a:t>Managed by DeepSeek</a:t>
            </a:r>
            <a:endParaRPr sz="1100"/>
          </a:p>
        </p:txBody>
      </p:sp>
      <p:pic>
        <p:nvPicPr>
          <p:cNvPr id="446" name="Google Shape;446;p49"/>
          <p:cNvPicPr preferRelativeResize="0"/>
          <p:nvPr/>
        </p:nvPicPr>
        <p:blipFill>
          <a:blip r:embed="rId3">
            <a:alphaModFix/>
          </a:blip>
          <a:stretch>
            <a:fillRect/>
          </a:stretch>
        </p:blipFill>
        <p:spPr>
          <a:xfrm>
            <a:off x="667802" y="1773275"/>
            <a:ext cx="573125" cy="573145"/>
          </a:xfrm>
          <a:prstGeom prst="rect">
            <a:avLst/>
          </a:prstGeom>
          <a:noFill/>
          <a:ln>
            <a:noFill/>
          </a:ln>
        </p:spPr>
      </p:pic>
      <p:pic>
        <p:nvPicPr>
          <p:cNvPr id="447" name="Google Shape;447;p49"/>
          <p:cNvPicPr preferRelativeResize="0"/>
          <p:nvPr/>
        </p:nvPicPr>
        <p:blipFill>
          <a:blip r:embed="rId4">
            <a:alphaModFix/>
          </a:blip>
          <a:stretch>
            <a:fillRect/>
          </a:stretch>
        </p:blipFill>
        <p:spPr>
          <a:xfrm>
            <a:off x="667803" y="2871388"/>
            <a:ext cx="573115" cy="601925"/>
          </a:xfrm>
          <a:prstGeom prst="rect">
            <a:avLst/>
          </a:prstGeom>
          <a:noFill/>
          <a:ln>
            <a:noFill/>
          </a:ln>
        </p:spPr>
      </p:pic>
      <p:pic>
        <p:nvPicPr>
          <p:cNvPr id="448" name="Google Shape;448;p49"/>
          <p:cNvPicPr preferRelativeResize="0"/>
          <p:nvPr/>
        </p:nvPicPr>
        <p:blipFill>
          <a:blip r:embed="rId5">
            <a:alphaModFix/>
          </a:blip>
          <a:stretch>
            <a:fillRect/>
          </a:stretch>
        </p:blipFill>
        <p:spPr>
          <a:xfrm>
            <a:off x="652052" y="3943173"/>
            <a:ext cx="604625" cy="60193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Best Features for these LLM’s</a:t>
            </a:r>
            <a:endParaRPr/>
          </a:p>
        </p:txBody>
      </p:sp>
      <p:sp>
        <p:nvSpPr>
          <p:cNvPr id="454" name="Google Shape;454;p50"/>
          <p:cNvSpPr txBox="1"/>
          <p:nvPr>
            <p:ph idx="2" type="subTitle"/>
          </p:nvPr>
        </p:nvSpPr>
        <p:spPr>
          <a:xfrm>
            <a:off x="720000" y="1278600"/>
            <a:ext cx="7704000" cy="3675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Char char="●"/>
            </a:pPr>
            <a:r>
              <a:rPr lang="en"/>
              <a:t>Claude: Projects</a:t>
            </a:r>
            <a:endParaRPr/>
          </a:p>
          <a:p>
            <a:pPr indent="-304800" lvl="1" marL="914400" rtl="0" algn="l">
              <a:lnSpc>
                <a:spcPct val="150000"/>
              </a:lnSpc>
              <a:spcBef>
                <a:spcPts val="0"/>
              </a:spcBef>
              <a:spcAft>
                <a:spcPts val="0"/>
              </a:spcAft>
              <a:buSzPts val="1200"/>
              <a:buChar char="○"/>
            </a:pPr>
            <a:r>
              <a:rPr lang="en"/>
              <a:t>Projects allow you to create "folders" for specific goals. You can upload 20+ files (PDFs, .txt, .py) and set custom instructions that only apply to that specific project. By doing so, you are able to maintain context and memory for specific projects</a:t>
            </a:r>
            <a:endParaRPr/>
          </a:p>
          <a:p>
            <a:pPr indent="-304800" lvl="1" marL="914400" rtl="0" algn="l">
              <a:lnSpc>
                <a:spcPct val="150000"/>
              </a:lnSpc>
              <a:spcBef>
                <a:spcPts val="0"/>
              </a:spcBef>
              <a:spcAft>
                <a:spcPts val="0"/>
              </a:spcAft>
              <a:buSzPts val="1200"/>
              <a:buChar char="○"/>
            </a:pPr>
            <a:r>
              <a:rPr lang="en"/>
              <a:t>Managed by Anthropic</a:t>
            </a:r>
            <a:endParaRPr/>
          </a:p>
          <a:p>
            <a:pPr indent="-304800" lvl="0" marL="457200" rtl="0" algn="l">
              <a:lnSpc>
                <a:spcPct val="150000"/>
              </a:lnSpc>
              <a:spcBef>
                <a:spcPts val="0"/>
              </a:spcBef>
              <a:spcAft>
                <a:spcPts val="0"/>
              </a:spcAft>
              <a:buSzPts val="1200"/>
              <a:buChar char="●"/>
            </a:pPr>
            <a:r>
              <a:rPr lang="en"/>
              <a:t>Grok: Real Time unfiltered intelligence</a:t>
            </a:r>
            <a:endParaRPr/>
          </a:p>
          <a:p>
            <a:pPr indent="-304800" lvl="1" marL="914400" rtl="0" algn="l">
              <a:lnSpc>
                <a:spcPct val="150000"/>
              </a:lnSpc>
              <a:spcBef>
                <a:spcPts val="0"/>
              </a:spcBef>
              <a:spcAft>
                <a:spcPts val="0"/>
              </a:spcAft>
              <a:buSzPts val="1200"/>
              <a:buChar char="○"/>
            </a:pPr>
            <a:r>
              <a:rPr lang="en"/>
              <a:t>Since Grok is plugged into X, formerly known as twitter, it is constantly getting news/social media updates in real time. With that being said, you are able to get real </a:t>
            </a:r>
            <a:r>
              <a:rPr lang="en"/>
              <a:t>opinions</a:t>
            </a:r>
            <a:r>
              <a:rPr lang="en"/>
              <a:t> from real people.</a:t>
            </a:r>
            <a:endParaRPr/>
          </a:p>
          <a:p>
            <a:pPr indent="-304800" lvl="1" marL="914400" rtl="0" algn="l">
              <a:lnSpc>
                <a:spcPct val="150000"/>
              </a:lnSpc>
              <a:spcBef>
                <a:spcPts val="0"/>
              </a:spcBef>
              <a:spcAft>
                <a:spcPts val="0"/>
              </a:spcAft>
              <a:buSzPts val="1200"/>
              <a:buChar char="○"/>
            </a:pPr>
            <a:r>
              <a:rPr lang="en"/>
              <a:t>Also, very good at determining what videos/news is AI and what is real</a:t>
            </a:r>
            <a:endParaRPr/>
          </a:p>
          <a:p>
            <a:pPr indent="-304800" lvl="1" marL="914400" rtl="0" algn="l">
              <a:lnSpc>
                <a:spcPct val="150000"/>
              </a:lnSpc>
              <a:spcBef>
                <a:spcPts val="0"/>
              </a:spcBef>
              <a:spcAft>
                <a:spcPts val="0"/>
              </a:spcAft>
              <a:buSzPts val="1200"/>
              <a:buChar char="○"/>
            </a:pPr>
            <a:r>
              <a:rPr lang="en"/>
              <a:t>Managed by X (twitter)</a:t>
            </a:r>
            <a:endParaRPr/>
          </a:p>
        </p:txBody>
      </p:sp>
      <p:pic>
        <p:nvPicPr>
          <p:cNvPr id="455" name="Google Shape;455;p50"/>
          <p:cNvPicPr preferRelativeResize="0"/>
          <p:nvPr/>
        </p:nvPicPr>
        <p:blipFill>
          <a:blip r:embed="rId3">
            <a:alphaModFix/>
          </a:blip>
          <a:stretch>
            <a:fillRect/>
          </a:stretch>
        </p:blipFill>
        <p:spPr>
          <a:xfrm>
            <a:off x="674978" y="1791953"/>
            <a:ext cx="681625" cy="681675"/>
          </a:xfrm>
          <a:prstGeom prst="rect">
            <a:avLst/>
          </a:prstGeom>
          <a:noFill/>
          <a:ln>
            <a:noFill/>
          </a:ln>
        </p:spPr>
      </p:pic>
      <p:pic>
        <p:nvPicPr>
          <p:cNvPr id="456" name="Google Shape;456;p50"/>
          <p:cNvPicPr preferRelativeResize="0"/>
          <p:nvPr/>
        </p:nvPicPr>
        <p:blipFill>
          <a:blip r:embed="rId4">
            <a:alphaModFix/>
          </a:blip>
          <a:stretch>
            <a:fillRect/>
          </a:stretch>
        </p:blipFill>
        <p:spPr>
          <a:xfrm>
            <a:off x="674985" y="3247853"/>
            <a:ext cx="596147" cy="572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Hallucinations</a:t>
            </a:r>
            <a:endParaRPr/>
          </a:p>
        </p:txBody>
      </p:sp>
      <p:sp>
        <p:nvSpPr>
          <p:cNvPr id="462" name="Google Shape;462;p51"/>
          <p:cNvSpPr txBox="1"/>
          <p:nvPr>
            <p:ph idx="2" type="subTitle"/>
          </p:nvPr>
        </p:nvSpPr>
        <p:spPr>
          <a:xfrm>
            <a:off x="720000" y="1278600"/>
            <a:ext cx="3873300" cy="36753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Char char="●"/>
            </a:pPr>
            <a:r>
              <a:rPr lang="en"/>
              <a:t>A hallucination is an incorrect statement that an LLM will generate that is presented/produced with </a:t>
            </a:r>
            <a:r>
              <a:rPr lang="en"/>
              <a:t>absolute</a:t>
            </a:r>
            <a:r>
              <a:rPr lang="en"/>
              <a:t> confidence </a:t>
            </a:r>
            <a:endParaRPr/>
          </a:p>
          <a:p>
            <a:pPr indent="0" lvl="0" marL="45720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
              <a:t>Why does this happen?</a:t>
            </a:r>
            <a:endParaRPr/>
          </a:p>
          <a:p>
            <a:pPr indent="-304800" lvl="0" marL="457200" rtl="0" algn="l">
              <a:lnSpc>
                <a:spcPct val="150000"/>
              </a:lnSpc>
              <a:spcBef>
                <a:spcPts val="0"/>
              </a:spcBef>
              <a:spcAft>
                <a:spcPts val="0"/>
              </a:spcAft>
              <a:buSzPts val="1200"/>
              <a:buChar char="●"/>
            </a:pPr>
            <a:r>
              <a:rPr lang="en"/>
              <a:t>The model is very eager to give an answer and will </a:t>
            </a:r>
            <a:r>
              <a:rPr lang="en"/>
              <a:t>prioritize</a:t>
            </a:r>
            <a:r>
              <a:rPr lang="en"/>
              <a:t> an incorrect answer over no answer</a:t>
            </a:r>
            <a:endParaRPr/>
          </a:p>
          <a:p>
            <a:pPr indent="-304800" lvl="0" marL="457200" rtl="0" algn="l">
              <a:lnSpc>
                <a:spcPct val="150000"/>
              </a:lnSpc>
              <a:spcBef>
                <a:spcPts val="0"/>
              </a:spcBef>
              <a:spcAft>
                <a:spcPts val="0"/>
              </a:spcAft>
              <a:buSzPts val="1200"/>
              <a:buChar char="●"/>
            </a:pPr>
            <a:r>
              <a:rPr lang="en"/>
              <a:t>Internal math within the LLM forces output, so sometimes it will fill gaps with plausible sounding information</a:t>
            </a:r>
            <a:endParaRPr/>
          </a:p>
          <a:p>
            <a:pPr indent="-304800" lvl="0" marL="457200" rtl="0" algn="l">
              <a:lnSpc>
                <a:spcPct val="150000"/>
              </a:lnSpc>
              <a:spcBef>
                <a:spcPts val="0"/>
              </a:spcBef>
              <a:spcAft>
                <a:spcPts val="0"/>
              </a:spcAft>
              <a:buSzPts val="1200"/>
              <a:buChar char="●"/>
            </a:pPr>
            <a:r>
              <a:rPr lang="en"/>
              <a:t>Again, an LLM predicts information based on probabilities. It is not searching through a database to get an answer.</a:t>
            </a:r>
            <a:endParaRPr/>
          </a:p>
        </p:txBody>
      </p:sp>
      <p:pic>
        <p:nvPicPr>
          <p:cNvPr id="463" name="Google Shape;463;p51"/>
          <p:cNvPicPr preferRelativeResize="0"/>
          <p:nvPr/>
        </p:nvPicPr>
        <p:blipFill>
          <a:blip r:embed="rId3">
            <a:alphaModFix/>
          </a:blip>
          <a:stretch>
            <a:fillRect/>
          </a:stretch>
        </p:blipFill>
        <p:spPr>
          <a:xfrm>
            <a:off x="4793775" y="1554675"/>
            <a:ext cx="4245901" cy="244343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Hallucinations (continued…)</a:t>
            </a:r>
            <a:endParaRPr/>
          </a:p>
        </p:txBody>
      </p:sp>
      <p:sp>
        <p:nvSpPr>
          <p:cNvPr id="469" name="Google Shape;469;p52"/>
          <p:cNvSpPr txBox="1"/>
          <p:nvPr>
            <p:ph idx="2" type="subTitle"/>
          </p:nvPr>
        </p:nvSpPr>
        <p:spPr>
          <a:xfrm>
            <a:off x="720000" y="1278600"/>
            <a:ext cx="7704000" cy="3012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100"/>
              <a:t>While hallucinations still occur in all LLMs, their frequency has decreased significantly in recent months. This is largely due to a shift in how developers evaluate model performance. </a:t>
            </a:r>
            <a:endParaRPr sz="1100"/>
          </a:p>
          <a:p>
            <a:pPr indent="0" lvl="0" marL="0" rtl="0" algn="l">
              <a:lnSpc>
                <a:spcPct val="150000"/>
              </a:lnSpc>
              <a:spcBef>
                <a:spcPts val="0"/>
              </a:spcBef>
              <a:spcAft>
                <a:spcPts val="0"/>
              </a:spcAft>
              <a:buNone/>
            </a:pPr>
            <a:r>
              <a:t/>
            </a:r>
            <a:endParaRPr sz="1100"/>
          </a:p>
          <a:p>
            <a:pPr indent="0" lvl="0" marL="0" rtl="0" algn="l">
              <a:lnSpc>
                <a:spcPct val="150000"/>
              </a:lnSpc>
              <a:spcBef>
                <a:spcPts val="0"/>
              </a:spcBef>
              <a:spcAft>
                <a:spcPts val="0"/>
              </a:spcAft>
              <a:buNone/>
            </a:pPr>
            <a:r>
              <a:rPr lang="en" sz="1100"/>
              <a:t>To visualize this change, imagine a student taking a test. For the student, it is better to take a guess on than to leave a question blank, as they do not want to leave points on the table. This is how LLMs were being evaluated in their early stages. </a:t>
            </a:r>
            <a:endParaRPr sz="1100"/>
          </a:p>
          <a:p>
            <a:pPr indent="0" lvl="0" marL="0" rtl="0" algn="l">
              <a:lnSpc>
                <a:spcPct val="150000"/>
              </a:lnSpc>
              <a:spcBef>
                <a:spcPts val="0"/>
              </a:spcBef>
              <a:spcAft>
                <a:spcPts val="0"/>
              </a:spcAft>
              <a:buNone/>
            </a:pPr>
            <a:r>
              <a:t/>
            </a:r>
            <a:endParaRPr sz="1100"/>
          </a:p>
          <a:p>
            <a:pPr indent="0" lvl="0" marL="0" rtl="0" algn="l">
              <a:lnSpc>
                <a:spcPct val="150000"/>
              </a:lnSpc>
              <a:spcBef>
                <a:spcPts val="0"/>
              </a:spcBef>
              <a:spcAft>
                <a:spcPts val="0"/>
              </a:spcAft>
              <a:buNone/>
            </a:pPr>
            <a:r>
              <a:rPr lang="en" sz="1100"/>
              <a:t>Now, newer models are getting penalized for being wrong as opposed to being silent. This would be like the student losing points for guessing a wrong answer. By rewarding the LLMs "I don't know" over a confident error, developers have encouraged AI to prioritize accuracy over output. </a:t>
            </a:r>
            <a:endParaRPr sz="1100"/>
          </a:p>
          <a:p>
            <a:pPr indent="0" lvl="0" marL="0" rtl="0" algn="l">
              <a:lnSpc>
                <a:spcPct val="150000"/>
              </a:lnSpc>
              <a:spcBef>
                <a:spcPts val="0"/>
              </a:spcBef>
              <a:spcAft>
                <a:spcPts val="0"/>
              </a:spcAft>
              <a:buNone/>
            </a:pPr>
            <a:r>
              <a:t/>
            </a:r>
            <a:endParaRPr sz="1100"/>
          </a:p>
          <a:p>
            <a:pPr indent="0" lvl="0" marL="0" rtl="0" algn="l">
              <a:lnSpc>
                <a:spcPct val="150000"/>
              </a:lnSpc>
              <a:spcBef>
                <a:spcPts val="0"/>
              </a:spcBef>
              <a:spcAft>
                <a:spcPts val="0"/>
              </a:spcAft>
              <a:buNone/>
            </a:pPr>
            <a:r>
              <a:rPr lang="en" sz="1100"/>
              <a:t>With that being said, all LLM’s have greatly decreased their hallucination output over time. Currently, there is not a large discrepancy between hallucination production </a:t>
            </a:r>
            <a:r>
              <a:rPr lang="en" sz="1100"/>
              <a:t>among</a:t>
            </a:r>
            <a:r>
              <a:rPr lang="en" sz="1100"/>
              <a:t> these LLM’s, but they still </a:t>
            </a:r>
            <a:r>
              <a:rPr lang="en" sz="1100"/>
              <a:t>occur</a:t>
            </a:r>
            <a:r>
              <a:rPr lang="en" sz="1100"/>
              <a:t> around 1-2% of the time. </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Prompt Engineering</a:t>
            </a:r>
            <a:endParaRPr/>
          </a:p>
        </p:txBody>
      </p:sp>
      <p:sp>
        <p:nvSpPr>
          <p:cNvPr id="475" name="Google Shape;475;p53"/>
          <p:cNvSpPr txBox="1"/>
          <p:nvPr>
            <p:ph idx="2" type="subTitle"/>
          </p:nvPr>
        </p:nvSpPr>
        <p:spPr>
          <a:xfrm>
            <a:off x="720000" y="1278600"/>
            <a:ext cx="7704000" cy="3012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100"/>
              <a:t>In order to prevent hallucinations, it is important to have a good prompt. A good prompt can help the LLM better understand the task you are trying to accomplish. Below are some tips for creating a good prompt</a:t>
            </a:r>
            <a:endParaRPr sz="1100"/>
          </a:p>
          <a:p>
            <a:pPr indent="-298450" lvl="0" marL="457200" rtl="0" algn="l">
              <a:lnSpc>
                <a:spcPct val="150000"/>
              </a:lnSpc>
              <a:spcBef>
                <a:spcPts val="0"/>
              </a:spcBef>
              <a:spcAft>
                <a:spcPts val="0"/>
              </a:spcAft>
              <a:buSzPts val="1100"/>
              <a:buChar char="●"/>
            </a:pPr>
            <a:r>
              <a:rPr lang="en" sz="1100"/>
              <a:t>State exactly what you want and don't want </a:t>
            </a:r>
            <a:endParaRPr sz="1100"/>
          </a:p>
          <a:p>
            <a:pPr indent="-298450" lvl="0" marL="457200" rtl="0" algn="l">
              <a:lnSpc>
                <a:spcPct val="150000"/>
              </a:lnSpc>
              <a:spcBef>
                <a:spcPts val="0"/>
              </a:spcBef>
              <a:spcAft>
                <a:spcPts val="0"/>
              </a:spcAft>
              <a:buSzPts val="1100"/>
              <a:buChar char="●"/>
            </a:pPr>
            <a:r>
              <a:rPr lang="en" sz="1100"/>
              <a:t>Include constraints like format, length, tone, and audience upfront</a:t>
            </a:r>
            <a:endParaRPr sz="1100"/>
          </a:p>
          <a:p>
            <a:pPr indent="-298450" lvl="0" marL="457200" rtl="0" algn="l">
              <a:lnSpc>
                <a:spcPct val="150000"/>
              </a:lnSpc>
              <a:spcBef>
                <a:spcPts val="0"/>
              </a:spcBef>
              <a:spcAft>
                <a:spcPts val="0"/>
              </a:spcAft>
              <a:buSzPts val="1100"/>
              <a:buChar char="●"/>
            </a:pPr>
            <a:r>
              <a:rPr lang="en" sz="1100"/>
              <a:t>Use phrases like "think step by step" or "explain your reasoning" </a:t>
            </a:r>
            <a:endParaRPr sz="1100"/>
          </a:p>
          <a:p>
            <a:pPr indent="-298450" lvl="1" marL="914400" rtl="0" algn="l">
              <a:lnSpc>
                <a:spcPct val="150000"/>
              </a:lnSpc>
              <a:spcBef>
                <a:spcPts val="0"/>
              </a:spcBef>
              <a:spcAft>
                <a:spcPts val="0"/>
              </a:spcAft>
              <a:buSzPts val="1100"/>
              <a:buChar char="○"/>
            </a:pPr>
            <a:r>
              <a:rPr lang="en" sz="1100"/>
              <a:t>This forces the model to catch its own errors </a:t>
            </a:r>
            <a:endParaRPr sz="1100"/>
          </a:p>
          <a:p>
            <a:pPr indent="-298450" lvl="0" marL="457200" rtl="0" algn="l">
              <a:lnSpc>
                <a:spcPct val="150000"/>
              </a:lnSpc>
              <a:spcBef>
                <a:spcPts val="0"/>
              </a:spcBef>
              <a:spcAft>
                <a:spcPts val="0"/>
              </a:spcAft>
              <a:buSzPts val="1100"/>
              <a:buChar char="●"/>
            </a:pPr>
            <a:r>
              <a:rPr lang="en" sz="1100"/>
              <a:t>For complex tasks, break them into smaller sub-prompts rather than one big ask </a:t>
            </a:r>
            <a:endParaRPr sz="1100"/>
          </a:p>
          <a:p>
            <a:pPr indent="-298450" lvl="0" marL="457200" rtl="0" algn="l">
              <a:lnSpc>
                <a:spcPct val="150000"/>
              </a:lnSpc>
              <a:spcBef>
                <a:spcPts val="0"/>
              </a:spcBef>
              <a:spcAft>
                <a:spcPts val="0"/>
              </a:spcAft>
              <a:buSzPts val="1100"/>
              <a:buChar char="●"/>
            </a:pPr>
            <a:r>
              <a:rPr lang="en" sz="1100"/>
              <a:t>Show examples of the output format you expect</a:t>
            </a:r>
            <a:endParaRPr sz="1100"/>
          </a:p>
          <a:p>
            <a:pPr indent="-298450" lvl="0" marL="457200" rtl="0" algn="l">
              <a:lnSpc>
                <a:spcPct val="150000"/>
              </a:lnSpc>
              <a:spcBef>
                <a:spcPts val="0"/>
              </a:spcBef>
              <a:spcAft>
                <a:spcPts val="0"/>
              </a:spcAft>
              <a:buSzPts val="1100"/>
              <a:buChar char="●"/>
            </a:pPr>
            <a:r>
              <a:rPr lang="en" sz="1100"/>
              <a:t>Provide relevant context, documents, or data directly in the prompt so the model reasons from your information, not its training memory</a:t>
            </a:r>
            <a:endParaRPr sz="1100"/>
          </a:p>
          <a:p>
            <a:pPr indent="-298450" lvl="0" marL="457200" rtl="0" algn="l">
              <a:lnSpc>
                <a:spcPct val="150000"/>
              </a:lnSpc>
              <a:spcBef>
                <a:spcPts val="0"/>
              </a:spcBef>
              <a:spcAft>
                <a:spcPts val="0"/>
              </a:spcAft>
              <a:buSzPts val="1100"/>
              <a:buChar char="●"/>
            </a:pPr>
            <a:r>
              <a:rPr lang="en" sz="1100"/>
              <a:t>Ask the model to answer only based on the provided context and say "I don't know" if the answer isn't there</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NotebookLM example</a:t>
            </a:r>
            <a:endParaRPr/>
          </a:p>
        </p:txBody>
      </p:sp>
      <p:pic>
        <p:nvPicPr>
          <p:cNvPr id="481" name="Google Shape;481;p54"/>
          <p:cNvPicPr preferRelativeResize="0"/>
          <p:nvPr/>
        </p:nvPicPr>
        <p:blipFill>
          <a:blip r:embed="rId3">
            <a:alphaModFix/>
          </a:blip>
          <a:stretch>
            <a:fillRect/>
          </a:stretch>
        </p:blipFill>
        <p:spPr>
          <a:xfrm>
            <a:off x="3359575" y="1415075"/>
            <a:ext cx="5606226" cy="2950925"/>
          </a:xfrm>
          <a:prstGeom prst="rect">
            <a:avLst/>
          </a:prstGeom>
          <a:noFill/>
          <a:ln>
            <a:noFill/>
          </a:ln>
        </p:spPr>
      </p:pic>
      <p:sp>
        <p:nvSpPr>
          <p:cNvPr id="482" name="Google Shape;482;p54"/>
          <p:cNvSpPr txBox="1"/>
          <p:nvPr>
            <p:ph idx="2" type="subTitle"/>
          </p:nvPr>
        </p:nvSpPr>
        <p:spPr>
          <a:xfrm>
            <a:off x="487650" y="1142400"/>
            <a:ext cx="2759700" cy="3675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Go to </a:t>
            </a:r>
            <a:r>
              <a:rPr lang="en" u="sng">
                <a:solidFill>
                  <a:srgbClr val="0000FF"/>
                </a:solidFill>
                <a:hlinkClick r:id="rId4">
                  <a:extLst>
                    <a:ext uri="{A12FA001-AC4F-418D-AE19-62706E023703}">
                      <ahyp:hlinkClr val="tx"/>
                    </a:ext>
                  </a:extLst>
                </a:hlinkClick>
              </a:rPr>
              <a:t>NotebookLM’s</a:t>
            </a:r>
            <a:r>
              <a:rPr lang="en"/>
              <a:t> </a:t>
            </a:r>
            <a:r>
              <a:rPr lang="en"/>
              <a:t>website and open a new notebook. From here you should get a screen that looks like this.</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
              <a:t>Upon getting to this screen, pick an example source (school work) to learn about. In my example, we will be learning about George Washington via the wikipedia link</a:t>
            </a:r>
            <a:endParaRPr/>
          </a:p>
          <a:p>
            <a:pPr indent="0" lvl="0" marL="0" rtl="0" algn="l">
              <a:lnSpc>
                <a:spcPct val="150000"/>
              </a:lnSpc>
              <a:spcBef>
                <a:spcPts val="0"/>
              </a:spcBef>
              <a:spcAft>
                <a:spcPts val="0"/>
              </a:spcAft>
              <a:buNone/>
            </a:pPr>
            <a:r>
              <a:rPr lang="en"/>
              <a:t>(</a:t>
            </a:r>
            <a:r>
              <a:rPr lang="en" u="sng">
                <a:solidFill>
                  <a:srgbClr val="0000FF"/>
                </a:solidFill>
                <a:hlinkClick r:id="rId5">
                  <a:extLst>
                    <a:ext uri="{A12FA001-AC4F-418D-AE19-62706E023703}">
                      <ahyp:hlinkClr val="tx"/>
                    </a:ext>
                  </a:extLst>
                </a:hlinkClick>
              </a:rPr>
              <a:t>https://en.wikipedia.org/wiki/George_Washington</a:t>
            </a:r>
            <a:r>
              <a:rPr lang="en"/>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NotebookLM example (continued…)</a:t>
            </a:r>
            <a:endParaRPr/>
          </a:p>
        </p:txBody>
      </p:sp>
      <p:pic>
        <p:nvPicPr>
          <p:cNvPr id="488" name="Google Shape;488;p55"/>
          <p:cNvPicPr preferRelativeResize="0"/>
          <p:nvPr/>
        </p:nvPicPr>
        <p:blipFill>
          <a:blip r:embed="rId3">
            <a:alphaModFix/>
          </a:blip>
          <a:stretch>
            <a:fillRect/>
          </a:stretch>
        </p:blipFill>
        <p:spPr>
          <a:xfrm>
            <a:off x="4531346" y="1017725"/>
            <a:ext cx="3892649" cy="2048976"/>
          </a:xfrm>
          <a:prstGeom prst="rect">
            <a:avLst/>
          </a:prstGeom>
          <a:noFill/>
          <a:ln>
            <a:noFill/>
          </a:ln>
        </p:spPr>
      </p:pic>
      <p:sp>
        <p:nvSpPr>
          <p:cNvPr id="489" name="Google Shape;489;p55"/>
          <p:cNvSpPr txBox="1"/>
          <p:nvPr>
            <p:ph idx="2" type="subTitle"/>
          </p:nvPr>
        </p:nvSpPr>
        <p:spPr>
          <a:xfrm>
            <a:off x="487650" y="1142400"/>
            <a:ext cx="3657000" cy="3675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In order to upload a link, or any document, click the box that says upload a source (outlined in red). </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
              <a:t>Upon </a:t>
            </a:r>
            <a:r>
              <a:rPr lang="en"/>
              <a:t>clicking</a:t>
            </a:r>
            <a:r>
              <a:rPr lang="en"/>
              <a:t> the button, you will then see a screen that looks like an LLM prompt. In the text box, you will upload the George Washington link, or any desired document or website, so that NotebookLM can begin working with it.</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
              <a:t>After uploading, you are able to pick in the studio column (far right), what you would like NotebookLM to do with the information. </a:t>
            </a:r>
            <a:endParaRPr/>
          </a:p>
        </p:txBody>
      </p:sp>
      <p:sp>
        <p:nvSpPr>
          <p:cNvPr id="490" name="Google Shape;490;p55"/>
          <p:cNvSpPr/>
          <p:nvPr/>
        </p:nvSpPr>
        <p:spPr>
          <a:xfrm>
            <a:off x="6229275" y="2152475"/>
            <a:ext cx="463200" cy="168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iro"/>
              <a:ea typeface="Cairo"/>
              <a:cs typeface="Cairo"/>
              <a:sym typeface="Cairo"/>
            </a:endParaRPr>
          </a:p>
        </p:txBody>
      </p:sp>
      <p:pic>
        <p:nvPicPr>
          <p:cNvPr id="491" name="Google Shape;491;p55"/>
          <p:cNvPicPr preferRelativeResize="0"/>
          <p:nvPr/>
        </p:nvPicPr>
        <p:blipFill>
          <a:blip r:embed="rId4">
            <a:alphaModFix/>
          </a:blip>
          <a:stretch>
            <a:fillRect/>
          </a:stretch>
        </p:blipFill>
        <p:spPr>
          <a:xfrm>
            <a:off x="5433013" y="3155001"/>
            <a:ext cx="2089313" cy="177199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NotebookLM example (continued…)</a:t>
            </a:r>
            <a:endParaRPr/>
          </a:p>
        </p:txBody>
      </p:sp>
      <p:sp>
        <p:nvSpPr>
          <p:cNvPr id="497" name="Google Shape;497;p56"/>
          <p:cNvSpPr txBox="1"/>
          <p:nvPr>
            <p:ph idx="2" type="subTitle"/>
          </p:nvPr>
        </p:nvSpPr>
        <p:spPr>
          <a:xfrm>
            <a:off x="487650" y="1142400"/>
            <a:ext cx="3657000" cy="3675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For this example, I will have NotebookLM create a quiz. </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lang="en"/>
              <a:t>From here, you can change the difficulty of the quiz, prompt it towards specific questions, take the quiz, get hints if you are stuck, and let NotebookLM know if the content is good or bad.  </a:t>
            </a:r>
            <a:endParaRPr/>
          </a:p>
        </p:txBody>
      </p:sp>
      <p:pic>
        <p:nvPicPr>
          <p:cNvPr id="498" name="Google Shape;498;p56"/>
          <p:cNvPicPr preferRelativeResize="0"/>
          <p:nvPr/>
        </p:nvPicPr>
        <p:blipFill>
          <a:blip r:embed="rId3">
            <a:alphaModFix/>
          </a:blip>
          <a:stretch>
            <a:fillRect/>
          </a:stretch>
        </p:blipFill>
        <p:spPr>
          <a:xfrm>
            <a:off x="487650" y="3143947"/>
            <a:ext cx="3657000" cy="1914103"/>
          </a:xfrm>
          <a:prstGeom prst="rect">
            <a:avLst/>
          </a:prstGeom>
          <a:noFill/>
          <a:ln>
            <a:noFill/>
          </a:ln>
        </p:spPr>
      </p:pic>
      <p:pic>
        <p:nvPicPr>
          <p:cNvPr id="499" name="Google Shape;499;p56"/>
          <p:cNvPicPr preferRelativeResize="0"/>
          <p:nvPr/>
        </p:nvPicPr>
        <p:blipFill>
          <a:blip r:embed="rId4">
            <a:alphaModFix/>
          </a:blip>
          <a:stretch>
            <a:fillRect/>
          </a:stretch>
        </p:blipFill>
        <p:spPr>
          <a:xfrm>
            <a:off x="5287951" y="1107400"/>
            <a:ext cx="3136051" cy="39506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Activity</a:t>
            </a:r>
            <a:r>
              <a:rPr lang="en"/>
              <a:t> #2 &amp; Activity #3</a:t>
            </a:r>
            <a:endParaRPr/>
          </a:p>
        </p:txBody>
      </p:sp>
      <p:sp>
        <p:nvSpPr>
          <p:cNvPr id="505" name="Google Shape;505;p57"/>
          <p:cNvSpPr txBox="1"/>
          <p:nvPr>
            <p:ph idx="1" type="body"/>
          </p:nvPr>
        </p:nvSpPr>
        <p:spPr>
          <a:xfrm>
            <a:off x="580800" y="1162500"/>
            <a:ext cx="7843200" cy="34041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AutoNum type="arabicPeriod"/>
            </a:pPr>
            <a:r>
              <a:rPr lang="en"/>
              <a:t>Upload a current lesson plan that you have created to Notebook LM and allow it to create a podcast summarizing the material. </a:t>
            </a:r>
            <a:endParaRPr/>
          </a:p>
          <a:p>
            <a:pPr indent="0" lvl="0" marL="0" rtl="0" algn="l">
              <a:lnSpc>
                <a:spcPct val="150000"/>
              </a:lnSpc>
              <a:spcBef>
                <a:spcPts val="0"/>
              </a:spcBef>
              <a:spcAft>
                <a:spcPts val="0"/>
              </a:spcAft>
              <a:buNone/>
            </a:pPr>
            <a:r>
              <a:rPr lang="en"/>
              <a:t>Create a discussion post that provides your opinion on the podcast it created. Did you like it? Do you think it is </a:t>
            </a:r>
            <a:r>
              <a:rPr lang="en"/>
              <a:t>beneficial? Was there important information Notebook LLM left out? </a:t>
            </a:r>
            <a:endParaRPr/>
          </a:p>
          <a:p>
            <a:pPr indent="0" lvl="0" marL="0" rtl="0" algn="l">
              <a:lnSpc>
                <a:spcPct val="150000"/>
              </a:lnSpc>
              <a:spcBef>
                <a:spcPts val="0"/>
              </a:spcBef>
              <a:spcAft>
                <a:spcPts val="0"/>
              </a:spcAft>
              <a:buNone/>
            </a:pPr>
            <a:r>
              <a:t/>
            </a:r>
            <a:endParaRPr/>
          </a:p>
          <a:p>
            <a:pPr indent="-304800" lvl="0" marL="457200" rtl="0" algn="l">
              <a:lnSpc>
                <a:spcPct val="150000"/>
              </a:lnSpc>
              <a:spcBef>
                <a:spcPts val="0"/>
              </a:spcBef>
              <a:spcAft>
                <a:spcPts val="0"/>
              </a:spcAft>
              <a:buSzPts val="1200"/>
              <a:buAutoNum type="arabicPeriod"/>
            </a:pPr>
            <a:r>
              <a:rPr lang="en"/>
              <a:t>Upload a current lesson plan that you have created to Notebook LM and ask it to create a multiple choice quiz based on the material. </a:t>
            </a:r>
            <a:endParaRPr/>
          </a:p>
          <a:p>
            <a:pPr indent="0" lvl="0" marL="0" rtl="0" algn="l">
              <a:lnSpc>
                <a:spcPct val="150000"/>
              </a:lnSpc>
              <a:spcBef>
                <a:spcPts val="0"/>
              </a:spcBef>
              <a:spcAft>
                <a:spcPts val="0"/>
              </a:spcAft>
              <a:buNone/>
            </a:pPr>
            <a:r>
              <a:rPr lang="en"/>
              <a:t>Create a discussion post that provides your opinion on the quiz it created. Did you like it? Do you think it is beneficial? Was there important information left out of the quiz? Does the quiz reflect similar questions that you would have asked?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id="510" name="Google Shape;510;p58"/>
          <p:cNvPicPr preferRelativeResize="0"/>
          <p:nvPr/>
        </p:nvPicPr>
        <p:blipFill>
          <a:blip r:embed="rId3">
            <a:alphaModFix/>
          </a:blip>
          <a:stretch>
            <a:fillRect/>
          </a:stretch>
        </p:blipFill>
        <p:spPr>
          <a:xfrm flipH="1" rot="10800000">
            <a:off x="5738810" y="0"/>
            <a:ext cx="3405191" cy="5143500"/>
          </a:xfrm>
          <a:prstGeom prst="rect">
            <a:avLst/>
          </a:prstGeom>
          <a:noFill/>
          <a:ln>
            <a:noFill/>
          </a:ln>
        </p:spPr>
      </p:pic>
      <p:pic>
        <p:nvPicPr>
          <p:cNvPr id="511" name="Google Shape;511;p58"/>
          <p:cNvPicPr preferRelativeResize="0"/>
          <p:nvPr/>
        </p:nvPicPr>
        <p:blipFill>
          <a:blip r:embed="rId4">
            <a:alphaModFix/>
          </a:blip>
          <a:stretch>
            <a:fillRect/>
          </a:stretch>
        </p:blipFill>
        <p:spPr>
          <a:xfrm>
            <a:off x="1" y="-928425"/>
            <a:ext cx="4131725" cy="1506249"/>
          </a:xfrm>
          <a:prstGeom prst="rect">
            <a:avLst/>
          </a:prstGeom>
          <a:noFill/>
          <a:ln>
            <a:noFill/>
          </a:ln>
        </p:spPr>
      </p:pic>
      <p:sp>
        <p:nvSpPr>
          <p:cNvPr id="512" name="Google Shape;512;p58"/>
          <p:cNvSpPr txBox="1"/>
          <p:nvPr>
            <p:ph idx="4294967295" type="subTitle"/>
          </p:nvPr>
        </p:nvSpPr>
        <p:spPr>
          <a:xfrm>
            <a:off x="895700" y="2710525"/>
            <a:ext cx="3281700" cy="127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Do you have any questions?</a:t>
            </a:r>
            <a:endParaRPr b="1"/>
          </a:p>
          <a:p>
            <a:pPr indent="0" lvl="0" marL="0" rtl="0" algn="l">
              <a:spcBef>
                <a:spcPts val="0"/>
              </a:spcBef>
              <a:spcAft>
                <a:spcPts val="0"/>
              </a:spcAft>
              <a:buNone/>
            </a:pPr>
            <a:r>
              <a:rPr lang="en" u="sng">
                <a:hlinkClick r:id="rId5"/>
              </a:rPr>
              <a:t>bill.skimmyhorn@mason.wm.edu</a:t>
            </a:r>
            <a:endParaRPr b="1"/>
          </a:p>
          <a:p>
            <a:pPr indent="0" lvl="0" marL="0" rtl="0" algn="l">
              <a:spcBef>
                <a:spcPts val="0"/>
              </a:spcBef>
              <a:spcAft>
                <a:spcPts val="0"/>
              </a:spcAft>
              <a:buNone/>
            </a:pPr>
            <a:r>
              <a:rPr lang="en" u="sng">
                <a:hlinkClick r:id="rId6"/>
              </a:rPr>
              <a:t>jvasquez01@wm.edu</a:t>
            </a:r>
            <a:endParaRPr b="1"/>
          </a:p>
          <a:p>
            <a:pPr indent="0" lvl="0" marL="0" rtl="0" algn="l">
              <a:spcBef>
                <a:spcPts val="0"/>
              </a:spcBef>
              <a:spcAft>
                <a:spcPts val="0"/>
              </a:spcAft>
              <a:buNone/>
            </a:pPr>
            <a:r>
              <a:rPr lang="en" u="sng">
                <a:hlinkClick r:id="rId7"/>
              </a:rPr>
              <a:t>ircalicchio@wm.edu</a:t>
            </a:r>
            <a:endParaRPr/>
          </a:p>
          <a:p>
            <a:pPr indent="0" lvl="0" marL="0" rtl="0" algn="l">
              <a:spcBef>
                <a:spcPts val="0"/>
              </a:spcBef>
              <a:spcAft>
                <a:spcPts val="0"/>
              </a:spcAft>
              <a:buNone/>
            </a:pPr>
            <a:r>
              <a:rPr lang="en" u="sng">
                <a:hlinkClick r:id="rId8"/>
              </a:rPr>
              <a:t>ahassaan@wm.edu</a:t>
            </a:r>
            <a:endParaRPr/>
          </a:p>
          <a:p>
            <a:pPr indent="0" lvl="0" marL="0" rtl="0" algn="l">
              <a:spcBef>
                <a:spcPts val="0"/>
              </a:spcBef>
              <a:spcAft>
                <a:spcPts val="0"/>
              </a:spcAft>
              <a:buNone/>
            </a:pPr>
            <a:r>
              <a:rPr lang="en" u="sng">
                <a:hlinkClick r:id="rId9"/>
              </a:rPr>
              <a:t>cachavez@wm.edu</a:t>
            </a:r>
            <a:endParaRPr b="1"/>
          </a:p>
        </p:txBody>
      </p:sp>
      <p:sp>
        <p:nvSpPr>
          <p:cNvPr id="513" name="Google Shape;513;p58"/>
          <p:cNvSpPr txBox="1"/>
          <p:nvPr>
            <p:ph type="title"/>
          </p:nvPr>
        </p:nvSpPr>
        <p:spPr>
          <a:xfrm>
            <a:off x="652350" y="1219025"/>
            <a:ext cx="4242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t>Thank You!</a:t>
            </a:r>
            <a:endParaRPr sz="6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519" name="Google Shape;519;p59"/>
          <p:cNvSpPr txBox="1"/>
          <p:nvPr>
            <p:ph idx="1" type="body"/>
          </p:nvPr>
        </p:nvSpPr>
        <p:spPr>
          <a:xfrm>
            <a:off x="720000" y="934025"/>
            <a:ext cx="7704000" cy="4053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100"/>
              <a:t>Anthropic. (2024). The Claude 3 model family: Technical report. </a:t>
            </a:r>
            <a:r>
              <a:rPr lang="en" sz="1100" u="sng">
                <a:hlinkClick r:id="rId3"/>
              </a:rPr>
              <a:t>https://www.anthropic.com/news/claude-3-family</a:t>
            </a:r>
            <a:endParaRPr sz="1100"/>
          </a:p>
          <a:p>
            <a:pPr indent="0" lvl="0" marL="0" rtl="0" algn="l">
              <a:spcBef>
                <a:spcPts val="1200"/>
              </a:spcBef>
              <a:spcAft>
                <a:spcPts val="0"/>
              </a:spcAft>
              <a:buNone/>
            </a:pPr>
            <a:r>
              <a:rPr lang="en" sz="1100"/>
              <a:t>Cloudflare. (n.d.). </a:t>
            </a:r>
            <a:r>
              <a:rPr i="1" lang="en" sz="1100"/>
              <a:t>What is a large language model (LLM)?</a:t>
            </a:r>
            <a:r>
              <a:rPr lang="en" sz="1100"/>
              <a:t> </a:t>
            </a:r>
            <a:endParaRPr sz="1100"/>
          </a:p>
          <a:p>
            <a:pPr indent="457200" lvl="0" marL="0" rtl="0" algn="l">
              <a:spcBef>
                <a:spcPts val="1200"/>
              </a:spcBef>
              <a:spcAft>
                <a:spcPts val="0"/>
              </a:spcAft>
              <a:buNone/>
            </a:pPr>
            <a:r>
              <a:rPr lang="en" sz="1100" u="sng">
                <a:hlinkClick r:id="rId4"/>
              </a:rPr>
              <a:t>https://www.cloudflare.com/learning/ai/what-is-large-language-model/</a:t>
            </a:r>
            <a:endParaRPr sz="1100"/>
          </a:p>
          <a:p>
            <a:pPr indent="0" lvl="0" marL="0" rtl="0" algn="l">
              <a:spcBef>
                <a:spcPts val="1200"/>
              </a:spcBef>
              <a:spcAft>
                <a:spcPts val="0"/>
              </a:spcAft>
              <a:buNone/>
            </a:pPr>
            <a:r>
              <a:rPr lang="en" sz="1100"/>
              <a:t>DeepSeek. (2024). DeepSeek-V3 Technical Report. </a:t>
            </a:r>
            <a:r>
              <a:rPr lang="en" sz="1100" u="sng">
                <a:hlinkClick r:id="rId5"/>
              </a:rPr>
              <a:t>https://www.deepseek.com/</a:t>
            </a:r>
            <a:endParaRPr sz="1100"/>
          </a:p>
          <a:p>
            <a:pPr indent="0" lvl="0" marL="0" rtl="0" algn="l">
              <a:spcBef>
                <a:spcPts val="1200"/>
              </a:spcBef>
              <a:spcAft>
                <a:spcPts val="0"/>
              </a:spcAft>
              <a:buNone/>
            </a:pPr>
            <a:r>
              <a:rPr lang="en" sz="1100"/>
              <a:t>Google. (2024). Gemini 1.5: Unlocking multimodal understanding across millions of tokens of context. Google DeepMind. </a:t>
            </a:r>
            <a:endParaRPr sz="1100"/>
          </a:p>
          <a:p>
            <a:pPr indent="457200" lvl="0" marL="0" rtl="0" algn="l">
              <a:spcBef>
                <a:spcPts val="1200"/>
              </a:spcBef>
              <a:spcAft>
                <a:spcPts val="0"/>
              </a:spcAft>
              <a:buNone/>
            </a:pPr>
            <a:r>
              <a:rPr lang="en" sz="1100" u="sng">
                <a:hlinkClick r:id="rId6"/>
              </a:rPr>
              <a:t>https://blog.google/technology/ai/google-gemini-next-generation-model-february-2024/</a:t>
            </a:r>
            <a:endParaRPr sz="1100"/>
          </a:p>
          <a:p>
            <a:pPr indent="0" lvl="0" marL="0" rtl="0" algn="l">
              <a:spcBef>
                <a:spcPts val="1200"/>
              </a:spcBef>
              <a:spcAft>
                <a:spcPts val="0"/>
              </a:spcAft>
              <a:buNone/>
            </a:pPr>
            <a:r>
              <a:rPr lang="en" sz="1100"/>
              <a:t>Google. (2023). NotebookLM: A personalized AI research assistant. </a:t>
            </a:r>
            <a:r>
              <a:rPr lang="en" sz="1100" u="sng">
                <a:hlinkClick r:id="rId7"/>
              </a:rPr>
              <a:t>https://notebooklm.google/</a:t>
            </a:r>
            <a:endParaRPr sz="1100"/>
          </a:p>
          <a:p>
            <a:pPr indent="0" lvl="0" marL="0" rtl="0" algn="l">
              <a:spcBef>
                <a:spcPts val="1200"/>
              </a:spcBef>
              <a:spcAft>
                <a:spcPts val="0"/>
              </a:spcAft>
              <a:buNone/>
            </a:pPr>
            <a:r>
              <a:rPr lang="en" sz="1100"/>
              <a:t>Microsoft. (2024). Microsoft Copilot: Your everyday AI companion. </a:t>
            </a:r>
            <a:r>
              <a:rPr lang="en" sz="1100" u="sng">
                <a:hlinkClick r:id="rId8"/>
              </a:rPr>
              <a:t>https://www.microsoft.com/en-us/microsoft-copilot</a:t>
            </a:r>
            <a:endParaRPr sz="1100"/>
          </a:p>
          <a:p>
            <a:pPr indent="0" lvl="0" marL="0" rtl="0" algn="l">
              <a:spcBef>
                <a:spcPts val="1200"/>
              </a:spcBef>
              <a:spcAft>
                <a:spcPts val="0"/>
              </a:spcAft>
              <a:buNone/>
            </a:pPr>
            <a:r>
              <a:rPr lang="en" sz="1100"/>
              <a:t>OpenAI. (2024). Learning with ChatGPT: A guide for educators. </a:t>
            </a:r>
            <a:r>
              <a:rPr lang="en" sz="1100" u="sng">
                <a:hlinkClick r:id="rId9"/>
              </a:rPr>
              <a:t>https://openai.com/education/</a:t>
            </a:r>
            <a:endParaRPr sz="1100"/>
          </a:p>
          <a:p>
            <a:pPr indent="0" lvl="0" marL="0" rtl="0" algn="l">
              <a:spcBef>
                <a:spcPts val="1200"/>
              </a:spcBef>
              <a:spcAft>
                <a:spcPts val="0"/>
              </a:spcAft>
              <a:buNone/>
            </a:pPr>
            <a:r>
              <a:rPr lang="en" sz="1100"/>
              <a:t>OpenAI. (2024, May 22). </a:t>
            </a:r>
            <a:r>
              <a:rPr i="1" lang="en" sz="1100"/>
              <a:t>Why language models hallucinate</a:t>
            </a:r>
            <a:r>
              <a:rPr lang="en" sz="1100"/>
              <a:t>.</a:t>
            </a:r>
            <a:r>
              <a:rPr lang="en" sz="1100">
                <a:uFill>
                  <a:noFill/>
                </a:uFill>
                <a:hlinkClick r:id="rId10"/>
              </a:rPr>
              <a:t> </a:t>
            </a:r>
            <a:r>
              <a:rPr lang="en" sz="1100" u="sng">
                <a:hlinkClick r:id="rId11"/>
              </a:rPr>
              <a:t>https://openai.com/index/why-language-models-hallucinate/</a:t>
            </a:r>
            <a:endParaRPr sz="1100"/>
          </a:p>
          <a:p>
            <a:pPr indent="0" lvl="0" marL="0" rtl="0" algn="l">
              <a:spcBef>
                <a:spcPts val="1200"/>
              </a:spcBef>
              <a:spcAft>
                <a:spcPts val="0"/>
              </a:spcAft>
              <a:buNone/>
            </a:pPr>
            <a:r>
              <a:rPr lang="en" sz="1100"/>
              <a:t>Perplexity AI. (2024). Perplexity Pages: Transforming research into shareable content. </a:t>
            </a:r>
            <a:endParaRPr sz="1100"/>
          </a:p>
          <a:p>
            <a:pPr indent="457200" lvl="0" marL="0" rtl="0" algn="l">
              <a:spcBef>
                <a:spcPts val="1200"/>
              </a:spcBef>
              <a:spcAft>
                <a:spcPts val="0"/>
              </a:spcAft>
              <a:buNone/>
            </a:pPr>
            <a:r>
              <a:rPr lang="en" sz="1100" u="sng">
                <a:hlinkClick r:id="rId12"/>
              </a:rPr>
              <a:t>https://www.perplexity.ai/hub/blog/perplexity-pages</a:t>
            </a:r>
            <a:endParaRPr sz="1100"/>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525" name="Google Shape;525;p60"/>
          <p:cNvSpPr txBox="1"/>
          <p:nvPr>
            <p:ph idx="1" type="body"/>
          </p:nvPr>
        </p:nvSpPr>
        <p:spPr>
          <a:xfrm>
            <a:off x="720000" y="1090195"/>
            <a:ext cx="7704000" cy="3761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100"/>
              <a:t>Vaswani, A., Shazeer, N., Parmar, N., Uszkoreit, J., Jones, L., Gomez, A. N., Kaiser, Ł., &amp; Polosukhin, I. (2017). Attention is all you </a:t>
            </a:r>
            <a:endParaRPr sz="1100"/>
          </a:p>
          <a:p>
            <a:pPr indent="457200" lvl="0" marL="0" rtl="0" algn="l">
              <a:spcBef>
                <a:spcPts val="1200"/>
              </a:spcBef>
              <a:spcAft>
                <a:spcPts val="0"/>
              </a:spcAft>
              <a:buNone/>
            </a:pPr>
            <a:r>
              <a:rPr lang="en" sz="1100"/>
              <a:t>need. </a:t>
            </a:r>
            <a:r>
              <a:rPr i="1" lang="en" sz="1100"/>
              <a:t>Advances in Neural Information Processing Systems</a:t>
            </a:r>
            <a:r>
              <a:rPr lang="en" sz="1100"/>
              <a:t>, 30. </a:t>
            </a:r>
            <a:endParaRPr sz="1100"/>
          </a:p>
          <a:p>
            <a:pPr indent="0" lvl="0" marL="0" rtl="0" algn="l">
              <a:lnSpc>
                <a:spcPct val="100000"/>
              </a:lnSpc>
              <a:spcBef>
                <a:spcPts val="1200"/>
              </a:spcBef>
              <a:spcAft>
                <a:spcPts val="0"/>
              </a:spcAft>
              <a:buNone/>
            </a:pPr>
            <a:r>
              <a:rPr lang="en" sz="1100"/>
              <a:t>xAI. (2024). Grok-1: Technical specifications and real-time integration. </a:t>
            </a:r>
            <a:r>
              <a:rPr lang="en" sz="1100" u="sng">
                <a:hlinkClick r:id="rId3"/>
              </a:rPr>
              <a:t>https://x.ai/blog/grok-1</a:t>
            </a:r>
            <a:endParaRPr sz="1100"/>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00000"/>
              </a:lnSpc>
              <a:spcBef>
                <a:spcPts val="1200"/>
              </a:spcBef>
              <a:spcAft>
                <a:spcPts val="0"/>
              </a:spcAft>
              <a:buNone/>
            </a:pPr>
            <a:r>
              <a:t/>
            </a:r>
            <a:endParaRPr sz="1100">
              <a:solidFill>
                <a:srgbClr val="000000"/>
              </a:solidFil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